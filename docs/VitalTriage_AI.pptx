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3200400" cy="5143500"/>
          </a:xfrm>
          <a:prstGeom prst="rect">
            <a:avLst/>
          </a:prstGeom>
          <a:solidFill>
            <a:srgbClr val="D94841">
              <a:alpha val="70000"/>
            </a:srgbClr>
          </a:solidFill>
          <a:ln/>
        </p:spPr>
      </p:sp>
      <p:pic>
        <p:nvPicPr>
          <p:cNvPr id="4" name="Image 1" descr="preencoded.png">    </p:cNvPr>
          <p:cNvPicPr>
            <a:picLocks noChangeAspect="1"/>
          </p:cNvPicPr>
          <p:nvPr/>
        </p:nvPicPr>
        <p:blipFill>
          <a:blip r:embed="rId2"/>
          <a:stretch>
            <a:fillRect/>
          </a:stretch>
        </p:blipFill>
        <p:spPr>
          <a:xfrm>
            <a:off x="876895" y="1914525"/>
            <a:ext cx="1446609" cy="1285875"/>
          </a:xfrm>
          <a:prstGeom prst="rect">
            <a:avLst/>
          </a:prstGeom>
        </p:spPr>
      </p:pic>
      <p:sp>
        <p:nvSpPr>
          <p:cNvPr id="5" name="Shape 1"/>
          <p:cNvSpPr/>
          <p:nvPr/>
        </p:nvSpPr>
        <p:spPr>
          <a:xfrm>
            <a:off x="4057650" y="2135256"/>
            <a:ext cx="857250" cy="42863"/>
          </a:xfrm>
          <a:prstGeom prst="rect">
            <a:avLst/>
          </a:prstGeom>
          <a:solidFill>
            <a:srgbClr val="F2C94C"/>
          </a:solidFill>
          <a:ln/>
        </p:spPr>
      </p:sp>
      <p:sp>
        <p:nvSpPr>
          <p:cNvPr id="6" name="Text 2"/>
          <p:cNvSpPr/>
          <p:nvPr/>
        </p:nvSpPr>
        <p:spPr>
          <a:xfrm>
            <a:off x="4057650" y="1446637"/>
            <a:ext cx="4514850" cy="660071"/>
          </a:xfrm>
          <a:prstGeom prst="rect">
            <a:avLst/>
          </a:prstGeom>
          <a:noFill/>
          <a:ln/>
        </p:spPr>
        <p:txBody>
          <a:bodyPr wrap="none" lIns="0" tIns="0" rIns="0" bIns="0" rtlCol="0" anchor="t">
            <a:spAutoFit/>
          </a:bodyPr>
          <a:lstStyle/>
          <a:p>
            <a:pPr algn="l" indent="0" marL="0">
              <a:lnSpc>
                <a:spcPts val="5200"/>
              </a:lnSpc>
              <a:buNone/>
            </a:pPr>
            <a:r>
              <a:rPr lang="en-US" sz="4353" b="1" dirty="0">
                <a:solidFill>
                  <a:srgbClr val="1A1A1A"/>
                </a:solidFill>
                <a:latin typeface="Playfair Display" pitchFamily="34" charset="0"/>
                <a:ea typeface="Playfair Display" pitchFamily="34" charset="-122"/>
                <a:cs typeface="Playfair Display" pitchFamily="34" charset="-120"/>
              </a:rPr>
              <a:t>VitalTriage AI</a:t>
            </a:r>
            <a:endParaRPr lang="en-US" sz="4353" dirty="0"/>
          </a:p>
        </p:txBody>
      </p:sp>
      <p:sp>
        <p:nvSpPr>
          <p:cNvPr id="7" name="Text 3"/>
          <p:cNvSpPr/>
          <p:nvPr/>
        </p:nvSpPr>
        <p:spPr>
          <a:xfrm>
            <a:off x="4057650" y="2335309"/>
            <a:ext cx="4286250" cy="640035"/>
          </a:xfrm>
          <a:prstGeom prst="rect">
            <a:avLst/>
          </a:prstGeom>
          <a:noFill/>
          <a:ln/>
        </p:spPr>
        <p:txBody>
          <a:bodyPr wrap="square" lIns="0" tIns="0" rIns="0" bIns="0" rtlCol="0" anchor="t">
            <a:spAutoFit/>
          </a:bodyPr>
          <a:lstStyle/>
          <a:p>
            <a:pPr algn="l" indent="0" marL="0">
              <a:lnSpc>
                <a:spcPts val="2500"/>
              </a:lnSpc>
              <a:buNone/>
            </a:pPr>
            <a:r>
              <a:rPr lang="en-US" sz="1704" dirty="0">
                <a:solidFill>
                  <a:srgbClr val="595959"/>
                </a:solidFill>
                <a:latin typeface="Inter" pitchFamily="34" charset="0"/>
                <a:ea typeface="Inter" pitchFamily="34" charset="-122"/>
                <a:cs typeface="Inter" pitchFamily="34" charset="-120"/>
              </a:rPr>
              <a:t>A Smart Patient Segmentation Platform for Data-Driven Healthcare Operations</a:t>
            </a:r>
            <a:endParaRPr lang="en-US" sz="1704" dirty="0"/>
          </a:p>
        </p:txBody>
      </p:sp>
      <p:pic>
        <p:nvPicPr>
          <p:cNvPr id="8" name="Image 2" descr="preencoded.png">    </p:cNvPr>
          <p:cNvPicPr>
            <a:picLocks noChangeAspect="1"/>
          </p:cNvPicPr>
          <p:nvPr/>
        </p:nvPicPr>
        <p:blipFill>
          <a:blip r:embed="rId3"/>
          <a:stretch>
            <a:fillRect/>
          </a:stretch>
        </p:blipFill>
        <p:spPr>
          <a:xfrm>
            <a:off x="4057650" y="3421828"/>
            <a:ext cx="178594" cy="171450"/>
          </a:xfrm>
          <a:prstGeom prst="rect">
            <a:avLst/>
          </a:prstGeom>
        </p:spPr>
      </p:pic>
      <p:sp>
        <p:nvSpPr>
          <p:cNvPr id="9" name="Text 4"/>
          <p:cNvSpPr/>
          <p:nvPr/>
        </p:nvSpPr>
        <p:spPr>
          <a:xfrm>
            <a:off x="4350544" y="3318244"/>
            <a:ext cx="4221956" cy="378619"/>
          </a:xfrm>
          <a:prstGeom prst="rect">
            <a:avLst/>
          </a:prstGeom>
          <a:noFill/>
          <a:ln/>
        </p:spPr>
        <p:txBody>
          <a:bodyPr wrap="square" lIns="0" tIns="0" rIns="0" bIns="0" rtlCol="0" anchor="t">
            <a:spAutoFit/>
          </a:bodyPr>
          <a:lstStyle/>
          <a:p>
            <a:pPr algn="l" indent="0" marL="0">
              <a:lnSpc>
                <a:spcPts val="1500"/>
              </a:lnSpc>
              <a:buNone/>
            </a:pPr>
            <a:r>
              <a:rPr lang="en-US" sz="1090" b="1" spc="1" kern="0" dirty="0">
                <a:solidFill>
                  <a:srgbClr val="D94841"/>
                </a:solidFill>
                <a:latin typeface="Inter" pitchFamily="34" charset="0"/>
                <a:ea typeface="Inter" pitchFamily="34" charset="-122"/>
                <a:cs typeface="Inter" pitchFamily="34" charset="-120"/>
              </a:rPr>
              <a:t>REPLACING MANUAL GUESSWORK WITH LOGIC-DRIVEN TRIAGE</a:t>
            </a:r>
            <a:endParaRPr lang="en-US" sz="109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2143125" cy="5143500"/>
          </a:xfrm>
          <a:prstGeom prst="rect">
            <a:avLst/>
          </a:prstGeom>
          <a:solidFill>
            <a:srgbClr val="1A1A1A"/>
          </a:solidFill>
          <a:ln/>
        </p:spPr>
      </p:sp>
      <p:sp>
        <p:nvSpPr>
          <p:cNvPr id="4" name="Text 1"/>
          <p:cNvSpPr/>
          <p:nvPr/>
        </p:nvSpPr>
        <p:spPr>
          <a:xfrm>
            <a:off x="214313" y="342900"/>
            <a:ext cx="1714500" cy="137517"/>
          </a:xfrm>
          <a:prstGeom prst="rect">
            <a:avLst/>
          </a:prstGeom>
          <a:noFill/>
          <a:ln/>
        </p:spPr>
        <p:txBody>
          <a:bodyPr wrap="none" lIns="0" tIns="0" rIns="0" bIns="0" rtlCol="0" anchor="t">
            <a:spAutoFit/>
          </a:bodyPr>
          <a:lstStyle/>
          <a:p>
            <a:pPr algn="l" indent="0" marL="0">
              <a:lnSpc>
                <a:spcPts val="1100"/>
              </a:lnSpc>
              <a:buNone/>
            </a:pPr>
            <a:r>
              <a:rPr lang="en-US" sz="784" b="1" spc="2" kern="0" dirty="0">
                <a:solidFill>
                  <a:srgbClr val="F2C94C"/>
                </a:solidFill>
                <a:latin typeface="Inter" pitchFamily="34" charset="0"/>
                <a:ea typeface="Inter" pitchFamily="34" charset="-122"/>
                <a:cs typeface="Inter" pitchFamily="34" charset="-120"/>
              </a:rPr>
              <a:t>PROBLEM STATEMENT</a:t>
            </a:r>
            <a:endParaRPr lang="en-US" sz="784" dirty="0"/>
          </a:p>
        </p:txBody>
      </p:sp>
      <p:sp>
        <p:nvSpPr>
          <p:cNvPr id="5" name="Text 2"/>
          <p:cNvSpPr/>
          <p:nvPr/>
        </p:nvSpPr>
        <p:spPr>
          <a:xfrm>
            <a:off x="214313" y="623292"/>
            <a:ext cx="1714500" cy="548618"/>
          </a:xfrm>
          <a:prstGeom prst="rect">
            <a:avLst/>
          </a:prstGeom>
          <a:noFill/>
          <a:ln/>
        </p:spPr>
        <p:txBody>
          <a:bodyPr wrap="square" lIns="0" tIns="0" rIns="0" bIns="0" rtlCol="0" anchor="t">
            <a:spAutoFit/>
          </a:bodyPr>
          <a:lstStyle/>
          <a:p>
            <a:pPr algn="l" indent="0" marL="0">
              <a:lnSpc>
                <a:spcPts val="2200"/>
              </a:lnSpc>
              <a:buNone/>
            </a:pPr>
            <a:r>
              <a:rPr lang="en-US" sz="1602" b="1" dirty="0">
                <a:solidFill>
                  <a:srgbClr val="FAFAFA"/>
                </a:solidFill>
                <a:latin typeface="Playfair Display" pitchFamily="34" charset="0"/>
                <a:ea typeface="Playfair Display" pitchFamily="34" charset="-122"/>
                <a:cs typeface="Playfair Display" pitchFamily="34" charset="-120"/>
              </a:rPr>
              <a:t>The Core Challenge</a:t>
            </a:r>
            <a:endParaRPr lang="en-US" sz="1602" dirty="0"/>
          </a:p>
        </p:txBody>
      </p:sp>
      <p:pic>
        <p:nvPicPr>
          <p:cNvPr id="6" name="Image 1" descr="preencoded.png">    </p:cNvPr>
          <p:cNvPicPr>
            <a:picLocks noChangeAspect="1"/>
          </p:cNvPicPr>
          <p:nvPr/>
        </p:nvPicPr>
        <p:blipFill>
          <a:blip r:embed="rId2"/>
          <a:stretch>
            <a:fillRect/>
          </a:stretch>
        </p:blipFill>
        <p:spPr>
          <a:xfrm>
            <a:off x="728663" y="3943350"/>
            <a:ext cx="685800" cy="685800"/>
          </a:xfrm>
          <a:prstGeom prst="rect">
            <a:avLst/>
          </a:prstGeom>
        </p:spPr>
      </p:pic>
      <p:sp>
        <p:nvSpPr>
          <p:cNvPr id="7" name="Text 3"/>
          <p:cNvSpPr/>
          <p:nvPr/>
        </p:nvSpPr>
        <p:spPr>
          <a:xfrm>
            <a:off x="2571750" y="457200"/>
            <a:ext cx="6143625" cy="45720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The Crisis in Healthcare Operations</a:t>
            </a:r>
            <a:endParaRPr lang="en-US" sz="2436" dirty="0"/>
          </a:p>
        </p:txBody>
      </p:sp>
      <p:sp>
        <p:nvSpPr>
          <p:cNvPr id="8" name="Text 4"/>
          <p:cNvSpPr/>
          <p:nvPr/>
        </p:nvSpPr>
        <p:spPr>
          <a:xfrm>
            <a:off x="2571750" y="1028700"/>
            <a:ext cx="6143625"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D94841"/>
                </a:solidFill>
                <a:latin typeface="Inter" pitchFamily="34" charset="0"/>
                <a:ea typeface="Inter" pitchFamily="34" charset="-122"/>
                <a:cs typeface="Inter" pitchFamily="34" charset="-120"/>
              </a:rPr>
              <a:t>Manual Triage is Failing Patients</a:t>
            </a:r>
            <a:endParaRPr lang="en-US" sz="1193" dirty="0"/>
          </a:p>
        </p:txBody>
      </p:sp>
      <p:sp>
        <p:nvSpPr>
          <p:cNvPr id="9" name="Shape 5"/>
          <p:cNvSpPr/>
          <p:nvPr/>
        </p:nvSpPr>
        <p:spPr>
          <a:xfrm>
            <a:off x="2571750" y="1350169"/>
            <a:ext cx="571500" cy="28575"/>
          </a:xfrm>
          <a:prstGeom prst="rect">
            <a:avLst/>
          </a:prstGeom>
          <a:solidFill>
            <a:srgbClr val="D94841"/>
          </a:solidFill>
          <a:ln/>
        </p:spPr>
      </p:sp>
      <p:sp>
        <p:nvSpPr>
          <p:cNvPr id="10" name="Text 6"/>
          <p:cNvSpPr/>
          <p:nvPr/>
        </p:nvSpPr>
        <p:spPr>
          <a:xfrm>
            <a:off x="2571750" y="1407319"/>
            <a:ext cx="5715000" cy="9144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595959"/>
                </a:solidFill>
                <a:latin typeface="Inter" pitchFamily="34" charset="0"/>
                <a:ea typeface="Inter" pitchFamily="34" charset="-122"/>
                <a:cs typeface="Inter" pitchFamily="34" charset="-120"/>
              </a:rPr>
              <a:t>Healthcare operations managers face a critical gap: without advanced analytics, classifying patients into urgency tiers is manual, subjective, and prone to human error. This creates cascading operational failures that directly impact patient outcomes.</a:t>
            </a:r>
            <a:endParaRPr lang="en-US" sz="1050" dirty="0"/>
          </a:p>
        </p:txBody>
      </p:sp>
      <p:pic>
        <p:nvPicPr>
          <p:cNvPr id="11" name="Image 2" descr="preencoded.png">    </p:cNvPr>
          <p:cNvPicPr>
            <a:picLocks noChangeAspect="1"/>
          </p:cNvPicPr>
          <p:nvPr/>
        </p:nvPicPr>
        <p:blipFill>
          <a:blip r:embed="rId3"/>
          <a:stretch>
            <a:fillRect/>
          </a:stretch>
        </p:blipFill>
        <p:spPr>
          <a:xfrm>
            <a:off x="2571750" y="2578894"/>
            <a:ext cx="1933556" cy="228600"/>
          </a:xfrm>
          <a:prstGeom prst="rect">
            <a:avLst/>
          </a:prstGeom>
        </p:spPr>
      </p:pic>
      <p:sp>
        <p:nvSpPr>
          <p:cNvPr id="12" name="Text 7"/>
          <p:cNvSpPr/>
          <p:nvPr/>
        </p:nvSpPr>
        <p:spPr>
          <a:xfrm>
            <a:off x="2571750" y="2921794"/>
            <a:ext cx="1933556" cy="457200"/>
          </a:xfrm>
          <a:prstGeom prst="rect">
            <a:avLst/>
          </a:prstGeom>
          <a:noFill/>
          <a:ln/>
        </p:spPr>
        <p:txBody>
          <a:bodyPr wrap="square" lIns="0" tIns="0" rIns="0" bIns="0" rtlCol="0" anchor="t">
            <a:spAutoFit/>
          </a:bodyPr>
          <a:lstStyle/>
          <a:p>
            <a:pPr algn="l"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Resource Mismanagement</a:t>
            </a:r>
            <a:endParaRPr lang="en-US" sz="1193" dirty="0"/>
          </a:p>
        </p:txBody>
      </p:sp>
      <p:sp>
        <p:nvSpPr>
          <p:cNvPr id="13" name="Text 8"/>
          <p:cNvSpPr/>
          <p:nvPr/>
        </p:nvSpPr>
        <p:spPr>
          <a:xfrm>
            <a:off x="2571750" y="3464719"/>
            <a:ext cx="1933556" cy="6858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Beds, staff, and equipment are often assigned to "Stable" patients while "Critical" patients wait for care.</a:t>
            </a:r>
            <a:endParaRPr lang="en-US" sz="834" dirty="0"/>
          </a:p>
        </p:txBody>
      </p:sp>
      <p:sp>
        <p:nvSpPr>
          <p:cNvPr id="14" name="Text 9"/>
          <p:cNvSpPr/>
          <p:nvPr/>
        </p:nvSpPr>
        <p:spPr>
          <a:xfrm>
            <a:off x="2571750" y="4271963"/>
            <a:ext cx="1933556" cy="105370"/>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D94841"/>
                </a:solidFill>
                <a:latin typeface="Inter" pitchFamily="34" charset="0"/>
                <a:ea typeface="Inter" pitchFamily="34" charset="-122"/>
                <a:cs typeface="Inter" pitchFamily="34" charset="-120"/>
              </a:rPr>
              <a:t>IMPACT</a:t>
            </a:r>
            <a:endParaRPr lang="en-US" sz="584" dirty="0"/>
          </a:p>
        </p:txBody>
      </p:sp>
      <p:sp>
        <p:nvSpPr>
          <p:cNvPr id="15" name="Text 10"/>
          <p:cNvSpPr/>
          <p:nvPr/>
        </p:nvSpPr>
        <p:spPr>
          <a:xfrm>
            <a:off x="2571750" y="4405908"/>
            <a:ext cx="1859161"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A1A1A"/>
                </a:solidFill>
                <a:latin typeface="Inter" pitchFamily="34" charset="0"/>
                <a:ea typeface="Inter" pitchFamily="34" charset="-122"/>
                <a:cs typeface="Inter" pitchFamily="34" charset="-120"/>
              </a:rPr>
              <a:t>Delayed care, increased mortality</a:t>
            </a:r>
            <a:endParaRPr lang="en-US" sz="784" dirty="0"/>
          </a:p>
        </p:txBody>
      </p:sp>
      <p:sp>
        <p:nvSpPr>
          <p:cNvPr id="16" name="Text 11"/>
          <p:cNvSpPr/>
          <p:nvPr/>
        </p:nvSpPr>
        <p:spPr>
          <a:xfrm>
            <a:off x="2571750" y="4543425"/>
            <a:ext cx="201811"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A1A1A"/>
                </a:solidFill>
                <a:latin typeface="Inter" pitchFamily="34" charset="0"/>
                <a:ea typeface="Inter" pitchFamily="34" charset="-122"/>
                <a:cs typeface="Inter" pitchFamily="34" charset="-120"/>
              </a:rPr>
              <a:t>risk</a:t>
            </a:r>
            <a:endParaRPr lang="en-US" sz="784" dirty="0"/>
          </a:p>
        </p:txBody>
      </p:sp>
      <p:pic>
        <p:nvPicPr>
          <p:cNvPr id="17" name="Image 3" descr="preencoded.png">    </p:cNvPr>
          <p:cNvPicPr>
            <a:picLocks noChangeAspect="1"/>
          </p:cNvPicPr>
          <p:nvPr/>
        </p:nvPicPr>
        <p:blipFill>
          <a:blip r:embed="rId4"/>
          <a:stretch>
            <a:fillRect/>
          </a:stretch>
        </p:blipFill>
        <p:spPr>
          <a:xfrm>
            <a:off x="4676756" y="2578894"/>
            <a:ext cx="1933584" cy="228600"/>
          </a:xfrm>
          <a:prstGeom prst="rect">
            <a:avLst/>
          </a:prstGeom>
        </p:spPr>
      </p:pic>
      <p:sp>
        <p:nvSpPr>
          <p:cNvPr id="18" name="Text 12"/>
          <p:cNvSpPr/>
          <p:nvPr/>
        </p:nvSpPr>
        <p:spPr>
          <a:xfrm>
            <a:off x="4676756" y="2921794"/>
            <a:ext cx="1933584"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Data Silos</a:t>
            </a:r>
            <a:endParaRPr lang="en-US" sz="1193" dirty="0"/>
          </a:p>
        </p:txBody>
      </p:sp>
      <p:sp>
        <p:nvSpPr>
          <p:cNvPr id="19" name="Text 13"/>
          <p:cNvSpPr/>
          <p:nvPr/>
        </p:nvSpPr>
        <p:spPr>
          <a:xfrm>
            <a:off x="4676756" y="3236119"/>
            <a:ext cx="1933584" cy="105191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Lack of a centralized dashboard makes it difficult for managers to see the "big picture" of ward health in real-time.</a:t>
            </a:r>
            <a:endParaRPr lang="en-US" sz="834" dirty="0"/>
          </a:p>
        </p:txBody>
      </p:sp>
      <p:sp>
        <p:nvSpPr>
          <p:cNvPr id="20" name="Text 14"/>
          <p:cNvSpPr/>
          <p:nvPr/>
        </p:nvSpPr>
        <p:spPr>
          <a:xfrm>
            <a:off x="4676756" y="4409480"/>
            <a:ext cx="1933584" cy="105370"/>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D94841"/>
                </a:solidFill>
                <a:latin typeface="Inter" pitchFamily="34" charset="0"/>
                <a:ea typeface="Inter" pitchFamily="34" charset="-122"/>
                <a:cs typeface="Inter" pitchFamily="34" charset="-120"/>
              </a:rPr>
              <a:t>IMPACT</a:t>
            </a:r>
            <a:endParaRPr lang="en-US" sz="584" dirty="0"/>
          </a:p>
        </p:txBody>
      </p:sp>
      <p:sp>
        <p:nvSpPr>
          <p:cNvPr id="21" name="Text 15"/>
          <p:cNvSpPr/>
          <p:nvPr/>
        </p:nvSpPr>
        <p:spPr>
          <a:xfrm>
            <a:off x="4676756" y="4543425"/>
            <a:ext cx="1694855"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A1A1A"/>
                </a:solidFill>
                <a:latin typeface="Inter" pitchFamily="34" charset="0"/>
                <a:ea typeface="Inter" pitchFamily="34" charset="-122"/>
                <a:cs typeface="Inter" pitchFamily="34" charset="-120"/>
              </a:rPr>
              <a:t>Blind spots in decision-making</a:t>
            </a:r>
            <a:endParaRPr lang="en-US" sz="784" dirty="0"/>
          </a:p>
        </p:txBody>
      </p:sp>
      <p:pic>
        <p:nvPicPr>
          <p:cNvPr id="22" name="Image 4" descr="preencoded.png">    </p:cNvPr>
          <p:cNvPicPr>
            <a:picLocks noChangeAspect="1"/>
          </p:cNvPicPr>
          <p:nvPr/>
        </p:nvPicPr>
        <p:blipFill>
          <a:blip r:embed="rId5"/>
          <a:stretch>
            <a:fillRect/>
          </a:stretch>
        </p:blipFill>
        <p:spPr>
          <a:xfrm>
            <a:off x="6781791" y="2578894"/>
            <a:ext cx="1933556" cy="228600"/>
          </a:xfrm>
          <a:prstGeom prst="rect">
            <a:avLst/>
          </a:prstGeom>
        </p:spPr>
      </p:pic>
      <p:sp>
        <p:nvSpPr>
          <p:cNvPr id="23" name="Text 16"/>
          <p:cNvSpPr/>
          <p:nvPr/>
        </p:nvSpPr>
        <p:spPr>
          <a:xfrm>
            <a:off x="6781791" y="2921794"/>
            <a:ext cx="1933556"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Manual Overhead</a:t>
            </a:r>
            <a:endParaRPr lang="en-US" sz="1193" dirty="0"/>
          </a:p>
        </p:txBody>
      </p:sp>
      <p:sp>
        <p:nvSpPr>
          <p:cNvPr id="24" name="Text 17"/>
          <p:cNvSpPr/>
          <p:nvPr/>
        </p:nvSpPr>
        <p:spPr>
          <a:xfrm>
            <a:off x="6781791" y="3236119"/>
            <a:ext cx="1933556" cy="105191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Clinicians spend valuable time on administrative categorization rather than direct patient intervention.</a:t>
            </a:r>
            <a:endParaRPr lang="en-US" sz="834" dirty="0"/>
          </a:p>
        </p:txBody>
      </p:sp>
      <p:sp>
        <p:nvSpPr>
          <p:cNvPr id="25" name="Text 18"/>
          <p:cNvSpPr/>
          <p:nvPr/>
        </p:nvSpPr>
        <p:spPr>
          <a:xfrm>
            <a:off x="6781791" y="4409480"/>
            <a:ext cx="1933556" cy="105370"/>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D94841"/>
                </a:solidFill>
                <a:latin typeface="Inter" pitchFamily="34" charset="0"/>
                <a:ea typeface="Inter" pitchFamily="34" charset="-122"/>
                <a:cs typeface="Inter" pitchFamily="34" charset="-120"/>
              </a:rPr>
              <a:t>IMPACT</a:t>
            </a:r>
            <a:endParaRPr lang="en-US" sz="584" dirty="0"/>
          </a:p>
        </p:txBody>
      </p:sp>
      <p:sp>
        <p:nvSpPr>
          <p:cNvPr id="26" name="Text 19"/>
          <p:cNvSpPr/>
          <p:nvPr/>
        </p:nvSpPr>
        <p:spPr>
          <a:xfrm>
            <a:off x="6781791" y="4543425"/>
            <a:ext cx="1551980"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A1A1A"/>
                </a:solidFill>
                <a:latin typeface="Inter" pitchFamily="34" charset="0"/>
                <a:ea typeface="Inter" pitchFamily="34" charset="-122"/>
                <a:cs typeface="Inter" pitchFamily="34" charset="-120"/>
              </a:rPr>
              <a:t>Reduced clinical throughput</a:t>
            </a:r>
            <a:endParaRPr lang="en-US" sz="78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89572"/>
          </a:xfrm>
          <a:prstGeom prst="rect">
            <a:avLst/>
          </a:prstGeom>
        </p:spPr>
      </p:pic>
      <p:sp>
        <p:nvSpPr>
          <p:cNvPr id="3" name="Text 0"/>
          <p:cNvSpPr/>
          <p:nvPr/>
        </p:nvSpPr>
        <p:spPr>
          <a:xfrm>
            <a:off x="571500" y="457200"/>
            <a:ext cx="6000750" cy="914400"/>
          </a:xfrm>
          <a:prstGeom prst="rect">
            <a:avLst/>
          </a:prstGeom>
          <a:noFill/>
          <a:ln/>
        </p:spPr>
        <p:txBody>
          <a:bodyPr wrap="square" lIns="0" tIns="0" rIns="0" bIns="0" rtlCol="0" anchor="t">
            <a:spAutoFit/>
          </a:bodyPr>
          <a:lstStyle/>
          <a:p>
            <a:pPr algn="l" indent="0" marL="0">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The Human Cost of Operational Inefficiency</a:t>
            </a:r>
            <a:endParaRPr lang="en-US" sz="2436" dirty="0"/>
          </a:p>
        </p:txBody>
      </p:sp>
      <p:sp>
        <p:nvSpPr>
          <p:cNvPr id="4" name="Shape 1"/>
          <p:cNvSpPr/>
          <p:nvPr/>
        </p:nvSpPr>
        <p:spPr>
          <a:xfrm>
            <a:off x="571500" y="1600200"/>
            <a:ext cx="571500" cy="28575"/>
          </a:xfrm>
          <a:prstGeom prst="rect">
            <a:avLst/>
          </a:prstGeom>
          <a:solidFill>
            <a:srgbClr val="D94841"/>
          </a:solidFill>
          <a:ln/>
        </p:spPr>
      </p:sp>
      <p:sp>
        <p:nvSpPr>
          <p:cNvPr id="5" name="Text 2"/>
          <p:cNvSpPr/>
          <p:nvPr/>
        </p:nvSpPr>
        <p:spPr>
          <a:xfrm>
            <a:off x="571500" y="1600200"/>
            <a:ext cx="5715000" cy="4572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595959"/>
                </a:solidFill>
                <a:latin typeface="Inter" pitchFamily="34" charset="0"/>
                <a:ea typeface="Inter" pitchFamily="34" charset="-122"/>
                <a:cs typeface="Inter" pitchFamily="34" charset="-120"/>
              </a:rPr>
              <a:t>The consequences of unstructured triage extend beyond inconvenience — they represent systemic risk to patient safety and institutional efficiency.</a:t>
            </a:r>
            <a:endParaRPr lang="en-US" sz="1050" dirty="0"/>
          </a:p>
        </p:txBody>
      </p:sp>
      <p:pic>
        <p:nvPicPr>
          <p:cNvPr id="6" name="Image 1" descr="preencoded.png">    </p:cNvPr>
          <p:cNvPicPr>
            <a:picLocks noChangeAspect="1"/>
          </p:cNvPicPr>
          <p:nvPr/>
        </p:nvPicPr>
        <p:blipFill>
          <a:blip r:embed="rId2"/>
          <a:stretch>
            <a:fillRect/>
          </a:stretch>
        </p:blipFill>
        <p:spPr>
          <a:xfrm>
            <a:off x="571500" y="2200275"/>
            <a:ext cx="142875" cy="142875"/>
          </a:xfrm>
          <a:prstGeom prst="rect">
            <a:avLst/>
          </a:prstGeom>
        </p:spPr>
      </p:pic>
      <p:sp>
        <p:nvSpPr>
          <p:cNvPr id="7" name="Text 3"/>
          <p:cNvSpPr/>
          <p:nvPr/>
        </p:nvSpPr>
        <p:spPr>
          <a:xfrm>
            <a:off x="828675" y="2171700"/>
            <a:ext cx="5743575" cy="385763"/>
          </a:xfrm>
          <a:prstGeom prst="rect">
            <a:avLst/>
          </a:prstGeom>
          <a:noFill/>
          <a:ln/>
        </p:spPr>
        <p:txBody>
          <a:bodyPr wrap="square" lIns="0" tIns="0" rIns="0" bIns="0" rtlCol="0" anchor="t">
            <a:spAutoFit/>
          </a:bodyPr>
          <a:lstStyle/>
          <a:p>
            <a:pPr algn="l" indent="0" marL="0">
              <a:lnSpc>
                <a:spcPts val="1100"/>
              </a:lnSpc>
              <a:buNone/>
            </a:pPr>
            <a:pPr algn="l" indent="0" marL="0">
              <a:lnSpc>
                <a:spcPts val="1100"/>
              </a:lnSpc>
              <a:buNone/>
            </a:pPr>
            <a:r>
              <a:rPr lang="en-US" sz="885" b="1" dirty="0">
                <a:solidFill>
                  <a:srgbClr val="1A1A1A"/>
                </a:solidFill>
                <a:latin typeface="Inter" pitchFamily="34" charset="0"/>
                <a:ea typeface="Inter" pitchFamily="34" charset="-122"/>
                <a:cs typeface="Inter" pitchFamily="34" charset="-120"/>
              </a:rPr>
              <a:t>Subjective Classification:</a:t>
            </a:r>
            <a:pPr algn="l" indent="0" marL="0">
              <a:lnSpc>
                <a:spcPts val="1100"/>
              </a:lnSpc>
              <a:buNone/>
            </a:pPr>
            <a:r>
              <a:rPr lang="en-US" sz="834" dirty="0">
                <a:solidFill>
                  <a:srgbClr val="595959"/>
                </a:solidFill>
                <a:latin typeface="Inter" pitchFamily="34" charset="0"/>
                <a:ea typeface="Inter" pitchFamily="34" charset="-122"/>
                <a:cs typeface="Inter" pitchFamily="34" charset="-120"/>
              </a:rPr>
              <a:t> </a:t>
            </a:r>
            <a:pPr algn="l" indent="0" marL="0">
              <a:lnSpc>
                <a:spcPts val="1100"/>
              </a:lnSpc>
              <a:buNone/>
            </a:pPr>
            <a:r>
              <a:rPr lang="en-US" sz="942" dirty="0">
                <a:solidFill>
                  <a:srgbClr val="595959"/>
                </a:solidFill>
                <a:latin typeface="Inter" pitchFamily="34" charset="0"/>
                <a:ea typeface="Inter" pitchFamily="34" charset="-122"/>
                <a:cs typeface="Inter" pitchFamily="34" charset="-120"/>
              </a:rPr>
              <a:t>Without standardized thresholds, two clinicians may assign different </a:t>
            </a:r>
            <a:pPr algn="l" indent="0" marL="0">
              <a:lnSpc>
                <a:spcPts val="1100"/>
              </a:lnSpc>
              <a:buNone/>
            </a:pPr>
            <a:r>
              <a:rPr lang="en-US" sz="942" dirty="0">
                <a:solidFill>
                  <a:srgbClr val="595959"/>
                </a:solidFill>
                <a:latin typeface="Inter" pitchFamily="34" charset="0"/>
                <a:ea typeface="Inter" pitchFamily="34" charset="-122"/>
                <a:cs typeface="Inter" pitchFamily="34" charset="-120"/>
              </a:rPr>
              <a:t>urgency levels to identical vitals, creating inconsistency across shifts.</a:t>
            </a:r>
            <a:pPr algn="l" indent="0" marL="0">
              <a:lnSpc>
                <a:spcPts val="1100"/>
              </a:lnSpc>
              <a:buNone/>
            </a:pPr>
            <a:endParaRPr lang="en-US" sz="834" dirty="0"/>
          </a:p>
        </p:txBody>
      </p:sp>
      <p:pic>
        <p:nvPicPr>
          <p:cNvPr id="8" name="Image 2" descr="preencoded.png">    </p:cNvPr>
          <p:cNvPicPr>
            <a:picLocks noChangeAspect="1"/>
          </p:cNvPicPr>
          <p:nvPr/>
        </p:nvPicPr>
        <p:blipFill>
          <a:blip r:embed="rId3"/>
          <a:stretch>
            <a:fillRect/>
          </a:stretch>
        </p:blipFill>
        <p:spPr>
          <a:xfrm>
            <a:off x="571500" y="2643188"/>
            <a:ext cx="142875" cy="142875"/>
          </a:xfrm>
          <a:prstGeom prst="rect">
            <a:avLst/>
          </a:prstGeom>
        </p:spPr>
      </p:pic>
      <p:sp>
        <p:nvSpPr>
          <p:cNvPr id="9" name="Text 4"/>
          <p:cNvSpPr/>
          <p:nvPr/>
        </p:nvSpPr>
        <p:spPr>
          <a:xfrm>
            <a:off x="828675" y="2614613"/>
            <a:ext cx="5743575" cy="385763"/>
          </a:xfrm>
          <a:prstGeom prst="rect">
            <a:avLst/>
          </a:prstGeom>
          <a:noFill/>
          <a:ln/>
        </p:spPr>
        <p:txBody>
          <a:bodyPr wrap="square" lIns="0" tIns="0" rIns="0" bIns="0" rtlCol="0" anchor="t">
            <a:spAutoFit/>
          </a:bodyPr>
          <a:lstStyle/>
          <a:p>
            <a:pPr algn="l" indent="0" marL="0">
              <a:lnSpc>
                <a:spcPts val="1100"/>
              </a:lnSpc>
              <a:buNone/>
            </a:pPr>
            <a:pPr algn="l" indent="0" marL="0">
              <a:lnSpc>
                <a:spcPts val="1100"/>
              </a:lnSpc>
              <a:buNone/>
            </a:pPr>
            <a:r>
              <a:rPr lang="en-US" sz="885" b="1" dirty="0">
                <a:solidFill>
                  <a:srgbClr val="1A1A1A"/>
                </a:solidFill>
                <a:latin typeface="Inter" pitchFamily="34" charset="0"/>
                <a:ea typeface="Inter" pitchFamily="34" charset="-122"/>
                <a:cs typeface="Inter" pitchFamily="34" charset="-120"/>
              </a:rPr>
              <a:t>Delayed Critical Response:</a:t>
            </a:r>
            <a:pPr algn="l" indent="0" marL="0">
              <a:lnSpc>
                <a:spcPts val="1100"/>
              </a:lnSpc>
              <a:buNone/>
            </a:pPr>
            <a:r>
              <a:rPr lang="en-US" sz="834" dirty="0">
                <a:solidFill>
                  <a:srgbClr val="595959"/>
                </a:solidFill>
                <a:latin typeface="Inter" pitchFamily="34" charset="0"/>
                <a:ea typeface="Inter" pitchFamily="34" charset="-122"/>
                <a:cs typeface="Inter" pitchFamily="34" charset="-120"/>
              </a:rPr>
              <a:t> </a:t>
            </a:r>
            <a:pPr algn="l" indent="0" marL="0">
              <a:lnSpc>
                <a:spcPts val="1100"/>
              </a:lnSpc>
              <a:buNone/>
            </a:pPr>
            <a:r>
              <a:rPr lang="en-US" sz="942" dirty="0">
                <a:solidFill>
                  <a:srgbClr val="595959"/>
                </a:solidFill>
                <a:latin typeface="Inter" pitchFamily="34" charset="0"/>
                <a:ea typeface="Inter" pitchFamily="34" charset="-122"/>
                <a:cs typeface="Inter" pitchFamily="34" charset="-120"/>
              </a:rPr>
              <a:t>A patient with deteriorating oxygen saturation may be overlooked </a:t>
            </a:r>
            <a:pPr algn="l" indent="0" marL="0">
              <a:lnSpc>
                <a:spcPts val="1100"/>
              </a:lnSpc>
              <a:buNone/>
            </a:pPr>
            <a:r>
              <a:rPr lang="en-US" sz="942" dirty="0">
                <a:solidFill>
                  <a:srgbClr val="595959"/>
                </a:solidFill>
                <a:latin typeface="Inter" pitchFamily="34" charset="0"/>
                <a:ea typeface="Inter" pitchFamily="34" charset="-122"/>
                <a:cs typeface="Inter" pitchFamily="34" charset="-120"/>
              </a:rPr>
              <a:t>in a high-volume ward without automated alerting.</a:t>
            </a:r>
            <a:pPr algn="l" indent="0" marL="0">
              <a:lnSpc>
                <a:spcPts val="1100"/>
              </a:lnSpc>
              <a:buNone/>
            </a:pPr>
            <a:endParaRPr lang="en-US" sz="834" dirty="0"/>
          </a:p>
        </p:txBody>
      </p:sp>
      <p:pic>
        <p:nvPicPr>
          <p:cNvPr id="10" name="Image 3" descr="preencoded.png">    </p:cNvPr>
          <p:cNvPicPr>
            <a:picLocks noChangeAspect="1"/>
          </p:cNvPicPr>
          <p:nvPr/>
        </p:nvPicPr>
        <p:blipFill>
          <a:blip r:embed="rId4"/>
          <a:stretch>
            <a:fillRect/>
          </a:stretch>
        </p:blipFill>
        <p:spPr>
          <a:xfrm>
            <a:off x="571500" y="3086100"/>
            <a:ext cx="160734" cy="142875"/>
          </a:xfrm>
          <a:prstGeom prst="rect">
            <a:avLst/>
          </a:prstGeom>
        </p:spPr>
      </p:pic>
      <p:sp>
        <p:nvSpPr>
          <p:cNvPr id="11" name="Text 5"/>
          <p:cNvSpPr/>
          <p:nvPr/>
        </p:nvSpPr>
        <p:spPr>
          <a:xfrm>
            <a:off x="846534" y="3057525"/>
            <a:ext cx="5725716" cy="385763"/>
          </a:xfrm>
          <a:prstGeom prst="rect">
            <a:avLst/>
          </a:prstGeom>
          <a:noFill/>
          <a:ln/>
        </p:spPr>
        <p:txBody>
          <a:bodyPr wrap="square" lIns="0" tIns="0" rIns="0" bIns="0" rtlCol="0" anchor="t">
            <a:spAutoFit/>
          </a:bodyPr>
          <a:lstStyle/>
          <a:p>
            <a:pPr algn="l" indent="0" marL="0">
              <a:lnSpc>
                <a:spcPts val="1100"/>
              </a:lnSpc>
              <a:buNone/>
            </a:pPr>
            <a:pPr algn="l" indent="0" marL="0">
              <a:lnSpc>
                <a:spcPts val="1100"/>
              </a:lnSpc>
              <a:buNone/>
            </a:pPr>
            <a:r>
              <a:rPr lang="en-US" sz="885" b="1" dirty="0">
                <a:solidFill>
                  <a:srgbClr val="1A1A1A"/>
                </a:solidFill>
                <a:latin typeface="Inter" pitchFamily="34" charset="0"/>
                <a:ea typeface="Inter" pitchFamily="34" charset="-122"/>
                <a:cs typeface="Inter" pitchFamily="34" charset="-120"/>
              </a:rPr>
              <a:t>Audit &amp; Compliance Risk:</a:t>
            </a:r>
            <a:pPr algn="l" indent="0" marL="0">
              <a:lnSpc>
                <a:spcPts val="1100"/>
              </a:lnSpc>
              <a:buNone/>
            </a:pPr>
            <a:r>
              <a:rPr lang="en-US" sz="834" dirty="0">
                <a:solidFill>
                  <a:srgbClr val="595959"/>
                </a:solidFill>
                <a:latin typeface="Inter" pitchFamily="34" charset="0"/>
                <a:ea typeface="Inter" pitchFamily="34" charset="-122"/>
                <a:cs typeface="Inter" pitchFamily="34" charset="-120"/>
              </a:rPr>
              <a:t> </a:t>
            </a:r>
            <a:pPr algn="l" indent="0" marL="0">
              <a:lnSpc>
                <a:spcPts val="1100"/>
              </a:lnSpc>
              <a:buNone/>
            </a:pPr>
            <a:r>
              <a:rPr lang="en-US" sz="942" dirty="0">
                <a:solidFill>
                  <a:srgbClr val="595959"/>
                </a:solidFill>
                <a:latin typeface="Inter" pitchFamily="34" charset="0"/>
                <a:ea typeface="Inter" pitchFamily="34" charset="-122"/>
                <a:cs typeface="Inter" pitchFamily="34" charset="-120"/>
              </a:rPr>
              <a:t>Manual records lack the traceability required for healthcare </a:t>
            </a:r>
            <a:pPr algn="l" indent="0" marL="0">
              <a:lnSpc>
                <a:spcPts val="1100"/>
              </a:lnSpc>
              <a:buNone/>
            </a:pPr>
            <a:r>
              <a:rPr lang="en-US" sz="942" dirty="0">
                <a:solidFill>
                  <a:srgbClr val="595959"/>
                </a:solidFill>
                <a:latin typeface="Inter" pitchFamily="34" charset="0"/>
                <a:ea typeface="Inter" pitchFamily="34" charset="-122"/>
                <a:cs typeface="Inter" pitchFamily="34" charset="-120"/>
              </a:rPr>
              <a:t>regulatory audits (e.g., HIPAA, CQC standards).</a:t>
            </a:r>
            <a:pPr algn="l" indent="0" marL="0">
              <a:lnSpc>
                <a:spcPts val="1100"/>
              </a:lnSpc>
              <a:buNone/>
            </a:pPr>
            <a:endParaRPr lang="en-US" sz="834" dirty="0"/>
          </a:p>
        </p:txBody>
      </p:sp>
      <p:pic>
        <p:nvPicPr>
          <p:cNvPr id="12" name="Image 4" descr="preencoded.png">    </p:cNvPr>
          <p:cNvPicPr>
            <a:picLocks noChangeAspect="1"/>
          </p:cNvPicPr>
          <p:nvPr/>
        </p:nvPicPr>
        <p:blipFill>
          <a:blip r:embed="rId5"/>
          <a:stretch>
            <a:fillRect/>
          </a:stretch>
        </p:blipFill>
        <p:spPr>
          <a:xfrm>
            <a:off x="571500" y="3529013"/>
            <a:ext cx="125016" cy="142875"/>
          </a:xfrm>
          <a:prstGeom prst="rect">
            <a:avLst/>
          </a:prstGeom>
        </p:spPr>
      </p:pic>
      <p:sp>
        <p:nvSpPr>
          <p:cNvPr id="13" name="Text 6"/>
          <p:cNvSpPr/>
          <p:nvPr/>
        </p:nvSpPr>
        <p:spPr>
          <a:xfrm>
            <a:off x="810816" y="3500438"/>
            <a:ext cx="5761434" cy="385763"/>
          </a:xfrm>
          <a:prstGeom prst="rect">
            <a:avLst/>
          </a:prstGeom>
          <a:noFill/>
          <a:ln/>
        </p:spPr>
        <p:txBody>
          <a:bodyPr wrap="square" lIns="0" tIns="0" rIns="0" bIns="0" rtlCol="0" anchor="t">
            <a:spAutoFit/>
          </a:bodyPr>
          <a:lstStyle/>
          <a:p>
            <a:pPr algn="l" indent="0" marL="0">
              <a:lnSpc>
                <a:spcPts val="1100"/>
              </a:lnSpc>
              <a:buNone/>
            </a:pPr>
            <a:pPr algn="l" indent="0" marL="0">
              <a:lnSpc>
                <a:spcPts val="1100"/>
              </a:lnSpc>
              <a:buNone/>
            </a:pPr>
            <a:r>
              <a:rPr lang="en-US" sz="885" b="1" dirty="0">
                <a:solidFill>
                  <a:srgbClr val="1A1A1A"/>
                </a:solidFill>
                <a:latin typeface="Inter" pitchFamily="34" charset="0"/>
                <a:ea typeface="Inter" pitchFamily="34" charset="-122"/>
                <a:cs typeface="Inter" pitchFamily="34" charset="-120"/>
              </a:rPr>
              <a:t>Clinician Burnout:</a:t>
            </a:r>
            <a:pPr algn="l" indent="0" marL="0">
              <a:lnSpc>
                <a:spcPts val="1100"/>
              </a:lnSpc>
              <a:buNone/>
            </a:pPr>
            <a:r>
              <a:rPr lang="en-US" sz="834" dirty="0">
                <a:solidFill>
                  <a:srgbClr val="595959"/>
                </a:solidFill>
                <a:latin typeface="Inter" pitchFamily="34" charset="0"/>
                <a:ea typeface="Inter" pitchFamily="34" charset="-122"/>
                <a:cs typeface="Inter" pitchFamily="34" charset="-120"/>
              </a:rPr>
              <a:t> </a:t>
            </a:r>
            <a:pPr algn="l" indent="0" marL="0">
              <a:lnSpc>
                <a:spcPts val="1100"/>
              </a:lnSpc>
              <a:buNone/>
            </a:pPr>
            <a:r>
              <a:rPr lang="en-US" sz="942" dirty="0">
                <a:solidFill>
                  <a:srgbClr val="595959"/>
                </a:solidFill>
                <a:latin typeface="Inter" pitchFamily="34" charset="0"/>
                <a:ea typeface="Inter" pitchFamily="34" charset="-122"/>
                <a:cs typeface="Inter" pitchFamily="34" charset="-120"/>
              </a:rPr>
              <a:t>Administrative burden from manual categorization reduces time available </a:t>
            </a:r>
            <a:pPr algn="l" indent="0" marL="0">
              <a:lnSpc>
                <a:spcPts val="1100"/>
              </a:lnSpc>
              <a:buNone/>
            </a:pPr>
            <a:r>
              <a:rPr lang="en-US" sz="942" dirty="0">
                <a:solidFill>
                  <a:srgbClr val="595959"/>
                </a:solidFill>
                <a:latin typeface="Inter" pitchFamily="34" charset="0"/>
                <a:ea typeface="Inter" pitchFamily="34" charset="-122"/>
                <a:cs typeface="Inter" pitchFamily="34" charset="-120"/>
              </a:rPr>
              <a:t>for direct patient care, contributing to staff fatigue.</a:t>
            </a:r>
            <a:pPr algn="l" indent="0" marL="0">
              <a:lnSpc>
                <a:spcPts val="1100"/>
              </a:lnSpc>
              <a:buNone/>
            </a:pPr>
            <a:endParaRPr lang="en-US" sz="834" dirty="0"/>
          </a:p>
        </p:txBody>
      </p:sp>
      <p:sp>
        <p:nvSpPr>
          <p:cNvPr id="14" name="Shape 7"/>
          <p:cNvSpPr/>
          <p:nvPr/>
        </p:nvSpPr>
        <p:spPr>
          <a:xfrm>
            <a:off x="571500" y="4171950"/>
            <a:ext cx="6000750" cy="731872"/>
          </a:xfrm>
          <a:prstGeom prst="rect">
            <a:avLst/>
          </a:prstGeom>
          <a:solidFill>
            <a:srgbClr val="F2C94C">
              <a:alpha val="10000"/>
            </a:srgbClr>
          </a:solidFill>
          <a:ln/>
        </p:spPr>
      </p:sp>
      <p:sp>
        <p:nvSpPr>
          <p:cNvPr id="15" name="Shape 8"/>
          <p:cNvSpPr/>
          <p:nvPr/>
        </p:nvSpPr>
        <p:spPr>
          <a:xfrm>
            <a:off x="571500" y="4171950"/>
            <a:ext cx="28575" cy="731872"/>
          </a:xfrm>
          <a:prstGeom prst="rect">
            <a:avLst/>
          </a:prstGeom>
          <a:solidFill>
            <a:srgbClr val="F2C94C"/>
          </a:solidFill>
          <a:ln/>
        </p:spPr>
      </p:sp>
      <p:sp>
        <p:nvSpPr>
          <p:cNvPr id="16" name="Text 9"/>
          <p:cNvSpPr/>
          <p:nvPr/>
        </p:nvSpPr>
        <p:spPr>
          <a:xfrm>
            <a:off x="742950" y="4286250"/>
            <a:ext cx="5657850" cy="280029"/>
          </a:xfrm>
          <a:prstGeom prst="rect">
            <a:avLst/>
          </a:prstGeom>
          <a:noFill/>
          <a:ln/>
        </p:spPr>
        <p:txBody>
          <a:bodyPr wrap="none" lIns="0" tIns="0" rIns="0" bIns="0" rtlCol="0" anchor="t">
            <a:spAutoFit/>
          </a:bodyPr>
          <a:lstStyle/>
          <a:p>
            <a:pPr algn="l" indent="0" marL="0">
              <a:lnSpc>
                <a:spcPts val="2200"/>
              </a:lnSpc>
              <a:buNone/>
            </a:pPr>
            <a:r>
              <a:rPr lang="en-US" sz="1486" i="1" dirty="0">
                <a:solidFill>
                  <a:srgbClr val="1A1A1A"/>
                </a:solidFill>
                <a:latin typeface="Playfair Display" pitchFamily="34" charset="0"/>
                <a:ea typeface="Playfair Display" pitchFamily="34" charset="-122"/>
                <a:cs typeface="Playfair Display" pitchFamily="34" charset="-120"/>
              </a:rPr>
              <a:t>"The right patient, in the right bed, at the right time"</a:t>
            </a:r>
            <a:endParaRPr lang="en-US" sz="1486" dirty="0"/>
          </a:p>
        </p:txBody>
      </p:sp>
      <p:sp>
        <p:nvSpPr>
          <p:cNvPr id="17" name="Text 10"/>
          <p:cNvSpPr/>
          <p:nvPr/>
        </p:nvSpPr>
        <p:spPr>
          <a:xfrm>
            <a:off x="742950" y="4652004"/>
            <a:ext cx="5657850" cy="13751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D94841"/>
                </a:solidFill>
                <a:latin typeface="Inter" pitchFamily="34" charset="0"/>
                <a:ea typeface="Inter" pitchFamily="34" charset="-122"/>
                <a:cs typeface="Inter" pitchFamily="34" charset="-120"/>
              </a:rPr>
              <a:t>THE OPERATIONAL IDEAL MANUAL SYSTEMS FAIL TO DELIVER</a:t>
            </a:r>
            <a:endParaRPr lang="en-US" sz="784" dirty="0"/>
          </a:p>
        </p:txBody>
      </p:sp>
      <p:sp>
        <p:nvSpPr>
          <p:cNvPr id="18" name="Shape 11"/>
          <p:cNvSpPr/>
          <p:nvPr/>
        </p:nvSpPr>
        <p:spPr>
          <a:xfrm>
            <a:off x="7000875" y="0"/>
            <a:ext cx="2143125" cy="5189572"/>
          </a:xfrm>
          <a:prstGeom prst="rect">
            <a:avLst/>
          </a:prstGeom>
          <a:solidFill>
            <a:srgbClr val="1A1A1A"/>
          </a:solidFill>
          <a:ln/>
        </p:spPr>
      </p:sp>
      <p:sp>
        <p:nvSpPr>
          <p:cNvPr id="19" name="Text 12"/>
          <p:cNvSpPr/>
          <p:nvPr/>
        </p:nvSpPr>
        <p:spPr>
          <a:xfrm>
            <a:off x="7215188" y="342900"/>
            <a:ext cx="1714500" cy="137517"/>
          </a:xfrm>
          <a:prstGeom prst="rect">
            <a:avLst/>
          </a:prstGeom>
          <a:noFill/>
          <a:ln/>
        </p:spPr>
        <p:txBody>
          <a:bodyPr wrap="none" lIns="0" tIns="0" rIns="0" bIns="0" rtlCol="0" anchor="t">
            <a:spAutoFit/>
          </a:bodyPr>
          <a:lstStyle/>
          <a:p>
            <a:pPr algn="r" indent="0" marL="0">
              <a:lnSpc>
                <a:spcPts val="1100"/>
              </a:lnSpc>
              <a:buNone/>
            </a:pPr>
            <a:r>
              <a:rPr lang="en-US" sz="784" b="1" spc="2" kern="0" dirty="0">
                <a:solidFill>
                  <a:srgbClr val="F2C94C"/>
                </a:solidFill>
                <a:latin typeface="Inter" pitchFamily="34" charset="0"/>
                <a:ea typeface="Inter" pitchFamily="34" charset="-122"/>
                <a:cs typeface="Inter" pitchFamily="34" charset="-120"/>
              </a:rPr>
              <a:t>PROBLEM DEEP DIVE</a:t>
            </a:r>
            <a:endParaRPr lang="en-US" sz="784" dirty="0"/>
          </a:p>
        </p:txBody>
      </p:sp>
      <p:sp>
        <p:nvSpPr>
          <p:cNvPr id="20" name="Text 13"/>
          <p:cNvSpPr/>
          <p:nvPr/>
        </p:nvSpPr>
        <p:spPr>
          <a:xfrm>
            <a:off x="7215188" y="623292"/>
            <a:ext cx="1714500" cy="274309"/>
          </a:xfrm>
          <a:prstGeom prst="rect">
            <a:avLst/>
          </a:prstGeom>
          <a:noFill/>
          <a:ln/>
        </p:spPr>
        <p:txBody>
          <a:bodyPr wrap="none" lIns="0" tIns="0" rIns="0" bIns="0" rtlCol="0" anchor="t">
            <a:spAutoFit/>
          </a:bodyPr>
          <a:lstStyle/>
          <a:p>
            <a:pPr algn="r" indent="0" marL="0">
              <a:lnSpc>
                <a:spcPts val="2200"/>
              </a:lnSpc>
              <a:buNone/>
            </a:pPr>
            <a:r>
              <a:rPr lang="en-US" sz="1602" b="1" dirty="0">
                <a:solidFill>
                  <a:srgbClr val="FAFAFA"/>
                </a:solidFill>
                <a:latin typeface="Playfair Display" pitchFamily="34" charset="0"/>
                <a:ea typeface="Playfair Display" pitchFamily="34" charset="-122"/>
                <a:cs typeface="Playfair Display" pitchFamily="34" charset="-120"/>
              </a:rPr>
              <a:t>Systemic Risk</a:t>
            </a:r>
            <a:endParaRPr lang="en-US" sz="1602" dirty="0"/>
          </a:p>
        </p:txBody>
      </p:sp>
      <p:pic>
        <p:nvPicPr>
          <p:cNvPr id="21" name="Image 5" descr="preencoded.png">    </p:cNvPr>
          <p:cNvPicPr>
            <a:picLocks noChangeAspect="1"/>
          </p:cNvPicPr>
          <p:nvPr/>
        </p:nvPicPr>
        <p:blipFill>
          <a:blip r:embed="rId6"/>
          <a:stretch>
            <a:fillRect/>
          </a:stretch>
        </p:blipFill>
        <p:spPr>
          <a:xfrm>
            <a:off x="7729538" y="3989422"/>
            <a:ext cx="685800" cy="685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216723"/>
          </a:xfrm>
          <a:prstGeom prst="rect">
            <a:avLst/>
          </a:prstGeom>
        </p:spPr>
      </p:pic>
      <p:sp>
        <p:nvSpPr>
          <p:cNvPr id="3" name="Text 0"/>
          <p:cNvSpPr/>
          <p:nvPr/>
        </p:nvSpPr>
        <p:spPr>
          <a:xfrm>
            <a:off x="571500" y="457200"/>
            <a:ext cx="8001000" cy="137517"/>
          </a:xfrm>
          <a:prstGeom prst="rect">
            <a:avLst/>
          </a:prstGeom>
          <a:noFill/>
          <a:ln/>
        </p:spPr>
        <p:txBody>
          <a:bodyPr wrap="none" lIns="0" tIns="0" rIns="0" bIns="0" rtlCol="0" anchor="t">
            <a:spAutoFit/>
          </a:bodyPr>
          <a:lstStyle/>
          <a:p>
            <a:pPr algn="l" indent="0" marL="0">
              <a:lnSpc>
                <a:spcPts val="1100"/>
              </a:lnSpc>
              <a:buNone/>
            </a:pPr>
            <a:r>
              <a:rPr lang="en-US" sz="784" b="1" spc="2" kern="0" dirty="0">
                <a:solidFill>
                  <a:srgbClr val="D94841"/>
                </a:solidFill>
                <a:latin typeface="Inter" pitchFamily="34" charset="0"/>
                <a:ea typeface="Inter" pitchFamily="34" charset="-122"/>
                <a:cs typeface="Inter" pitchFamily="34" charset="-120"/>
              </a:rPr>
              <a:t>PROPOSED SOLUTION</a:t>
            </a:r>
            <a:endParaRPr lang="en-US" sz="784" dirty="0"/>
          </a:p>
        </p:txBody>
      </p:sp>
      <p:sp>
        <p:nvSpPr>
          <p:cNvPr id="4" name="Text 1"/>
          <p:cNvSpPr/>
          <p:nvPr/>
        </p:nvSpPr>
        <p:spPr>
          <a:xfrm>
            <a:off x="571500" y="709017"/>
            <a:ext cx="8001000" cy="45720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Introducing VitalTriage AI</a:t>
            </a:r>
            <a:endParaRPr lang="en-US" sz="2436" dirty="0"/>
          </a:p>
        </p:txBody>
      </p:sp>
      <p:sp>
        <p:nvSpPr>
          <p:cNvPr id="5" name="Text 2"/>
          <p:cNvSpPr/>
          <p:nvPr/>
        </p:nvSpPr>
        <p:spPr>
          <a:xfrm>
            <a:off x="571500" y="1280517"/>
            <a:ext cx="8001000"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595959"/>
                </a:solidFill>
                <a:latin typeface="Inter" pitchFamily="34" charset="0"/>
                <a:ea typeface="Inter" pitchFamily="34" charset="-122"/>
                <a:cs typeface="Inter" pitchFamily="34" charset="-120"/>
              </a:rPr>
              <a:t>Logic-Driven Patient Prioritization</a:t>
            </a:r>
            <a:endParaRPr lang="en-US" sz="1193" dirty="0"/>
          </a:p>
        </p:txBody>
      </p:sp>
      <p:sp>
        <p:nvSpPr>
          <p:cNvPr id="6" name="Shape 3"/>
          <p:cNvSpPr/>
          <p:nvPr/>
        </p:nvSpPr>
        <p:spPr>
          <a:xfrm>
            <a:off x="571500" y="1601986"/>
            <a:ext cx="571500" cy="28575"/>
          </a:xfrm>
          <a:prstGeom prst="rect">
            <a:avLst/>
          </a:prstGeom>
          <a:solidFill>
            <a:srgbClr val="F2C94C"/>
          </a:solidFill>
          <a:ln/>
        </p:spPr>
      </p:sp>
      <p:sp>
        <p:nvSpPr>
          <p:cNvPr id="7" name="Text 4"/>
          <p:cNvSpPr/>
          <p:nvPr/>
        </p:nvSpPr>
        <p:spPr>
          <a:xfrm>
            <a:off x="571500" y="1716286"/>
            <a:ext cx="7143750" cy="6858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1A1A1A"/>
                </a:solidFill>
                <a:latin typeface="Inter" pitchFamily="34" charset="0"/>
                <a:ea typeface="Inter" pitchFamily="34" charset="-122"/>
                <a:cs typeface="Inter" pitchFamily="34" charset="-120"/>
              </a:rPr>
              <a:t>VitalTriage AI is a Smart Patient Segmentation Platform that replaces manual guesswork with a configurable, rule-based engine. It bridges the gap between raw medical data and real-time operational decision-making.</a:t>
            </a:r>
            <a:endParaRPr lang="en-US" sz="1050" dirty="0"/>
          </a:p>
        </p:txBody>
      </p:sp>
      <p:sp>
        <p:nvSpPr>
          <p:cNvPr id="8" name="Text 5"/>
          <p:cNvSpPr/>
          <p:nvPr/>
        </p:nvSpPr>
        <p:spPr>
          <a:xfrm>
            <a:off x="571500" y="2744986"/>
            <a:ext cx="108942" cy="285750"/>
          </a:xfrm>
          <a:prstGeom prst="rect">
            <a:avLst/>
          </a:prstGeom>
          <a:noFill/>
          <a:ln/>
        </p:spPr>
        <p:txBody>
          <a:bodyPr wrap="none" lIns="0" tIns="0" rIns="0" bIns="0" rtlCol="0" anchor="t">
            <a:spAutoFit/>
          </a:bodyPr>
          <a:lstStyle/>
          <a:p>
            <a:pPr algn="l" indent="0" marL="0">
              <a:lnSpc>
                <a:spcPts val="2300"/>
              </a:lnSpc>
              <a:buNone/>
            </a:pPr>
            <a:r>
              <a:rPr lang="en-US" sz="2016" b="1" dirty="0">
                <a:solidFill>
                  <a:srgbClr val="D94841"/>
                </a:solidFill>
                <a:latin typeface="Playfair Display" pitchFamily="34" charset="0"/>
                <a:ea typeface="Playfair Display" pitchFamily="34" charset="-122"/>
                <a:cs typeface="Playfair Display" pitchFamily="34" charset="-120"/>
              </a:rPr>
              <a:t>1</a:t>
            </a:r>
            <a:endParaRPr lang="en-US" sz="2016" dirty="0"/>
          </a:p>
        </p:txBody>
      </p:sp>
      <p:sp>
        <p:nvSpPr>
          <p:cNvPr id="9" name="Text 6"/>
          <p:cNvSpPr/>
          <p:nvPr/>
        </p:nvSpPr>
        <p:spPr>
          <a:xfrm>
            <a:off x="794742" y="2783384"/>
            <a:ext cx="1189434" cy="20895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latin typeface="Playfair Display" pitchFamily="34" charset="0"/>
                <a:ea typeface="Playfair Display" pitchFamily="34" charset="-122"/>
                <a:cs typeface="Playfair Display" pitchFamily="34" charset="-120"/>
              </a:rPr>
              <a:t>The Rule Engine</a:t>
            </a:r>
            <a:endParaRPr lang="en-US" sz="1090" dirty="0"/>
          </a:p>
        </p:txBody>
      </p:sp>
      <p:sp>
        <p:nvSpPr>
          <p:cNvPr id="10" name="Text 7"/>
          <p:cNvSpPr/>
          <p:nvPr/>
        </p:nvSpPr>
        <p:spPr>
          <a:xfrm>
            <a:off x="571500" y="3273623"/>
            <a:ext cx="2476481"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A configurable backend where Administrators define clinical thresholds for urgency classification.</a:t>
            </a:r>
            <a:endParaRPr lang="en-US" sz="834" dirty="0"/>
          </a:p>
        </p:txBody>
      </p:sp>
      <p:sp>
        <p:nvSpPr>
          <p:cNvPr id="11" name="Shape 8"/>
          <p:cNvSpPr/>
          <p:nvPr/>
        </p:nvSpPr>
        <p:spPr>
          <a:xfrm>
            <a:off x="571500" y="4570214"/>
            <a:ext cx="2476481" cy="646509"/>
          </a:xfrm>
          <a:prstGeom prst="rect">
            <a:avLst/>
          </a:prstGeom>
          <a:solidFill>
            <a:srgbClr val="1A1A1A"/>
          </a:solidFill>
          <a:ln/>
        </p:spPr>
      </p:sp>
      <p:sp>
        <p:nvSpPr>
          <p:cNvPr id="12" name="Text 9"/>
          <p:cNvSpPr/>
          <p:nvPr/>
        </p:nvSpPr>
        <p:spPr>
          <a:xfrm>
            <a:off x="571500" y="4570214"/>
            <a:ext cx="2476481" cy="646509"/>
          </a:xfrm>
          <a:prstGeom prst="rect">
            <a:avLst/>
          </a:prstGeom>
          <a:noFill/>
          <a:ln/>
        </p:spPr>
        <p:txBody>
          <a:bodyPr wrap="square" lIns="136017" tIns="136017" rIns="136017" bIns="136017" rtlCol="0" anchor="t">
            <a:spAutoFit/>
          </a:bodyPr>
          <a:lstStyle/>
          <a:p>
            <a:pPr algn="l" indent="0" marL="0">
              <a:lnSpc>
                <a:spcPts val="1100"/>
              </a:lnSpc>
              <a:buNone/>
            </a:pPr>
            <a:pPr algn="l" indent="0" marL="0">
              <a:lnSpc>
                <a:spcPts val="1100"/>
              </a:lnSpc>
              <a:buNone/>
            </a:pPr>
            <a:r>
              <a:rPr lang="en-US" sz="674" dirty="0">
                <a:solidFill>
                  <a:srgbClr val="D94841"/>
                </a:solidFill>
                <a:latin typeface="Fira Code" pitchFamily="34" charset="0"/>
                <a:ea typeface="Fira Code" pitchFamily="34" charset="-122"/>
                <a:cs typeface="Fira Code" pitchFamily="34" charset="-120"/>
              </a:rPr>
              <a:t>IF</a:t>
            </a:r>
            <a:pPr algn="l" indent="0" marL="0">
              <a:lnSpc>
                <a:spcPts val="1100"/>
              </a:lnSpc>
              <a:buNone/>
            </a:pPr>
            <a:r>
              <a:rPr lang="en-US" sz="674" dirty="0">
                <a:solidFill>
                  <a:srgbClr val="FAFAFA"/>
                </a:solidFill>
                <a:latin typeface="Fira Code" pitchFamily="34" charset="0"/>
                <a:ea typeface="Fira Code" pitchFamily="34" charset="-122"/>
                <a:cs typeface="Fira Code" pitchFamily="34" charset="-120"/>
              </a:rPr>
              <a:t> Oxygen Saturation &lt; </a:t>
            </a:r>
            <a:pPr algn="l" indent="0" marL="0">
              <a:lnSpc>
                <a:spcPts val="1100"/>
              </a:lnSpc>
              <a:buNone/>
            </a:pPr>
            <a:r>
              <a:rPr lang="en-US" sz="674" dirty="0">
                <a:solidFill>
                  <a:srgbClr val="F2C94C"/>
                </a:solidFill>
                <a:latin typeface="Fira Code" pitchFamily="34" charset="0"/>
                <a:ea typeface="Fira Code" pitchFamily="34" charset="-122"/>
                <a:cs typeface="Fira Code" pitchFamily="34" charset="-120"/>
              </a:rPr>
              <a:t>90%</a:t>
            </a:r>
            <a:pPr algn="l" indent="0" marL="0">
              <a:lnSpc>
                <a:spcPts val="1100"/>
              </a:lnSpc>
              <a:buNone/>
            </a:pPr>
            <a:r>
              <a:rPr lang="en-US" sz="674" dirty="0">
                <a:solidFill>
                  <a:srgbClr val="FAFAFA"/>
                </a:solidFill>
                <a:latin typeface="Fira Code" pitchFamily="34" charset="0"/>
                <a:ea typeface="Fira Code" pitchFamily="34" charset="-122"/>
                <a:cs typeface="Fira Code" pitchFamily="34" charset="-120"/>
              </a:rPr>
              <a:t>
</a:t>
            </a:r>
            <a:pPr algn="l" indent="0" marL="0">
              <a:lnSpc>
                <a:spcPts val="1100"/>
              </a:lnSpc>
              <a:buNone/>
            </a:pPr>
            <a:pPr algn="l" indent="0" marL="0">
              <a:lnSpc>
                <a:spcPts val="1100"/>
              </a:lnSpc>
              <a:buNone/>
            </a:pPr>
            <a:r>
              <a:rPr lang="en-US" sz="674" dirty="0">
                <a:solidFill>
                  <a:srgbClr val="D94841"/>
                </a:solidFill>
                <a:latin typeface="Fira Code" pitchFamily="34" charset="0"/>
                <a:ea typeface="Fira Code" pitchFamily="34" charset="-122"/>
                <a:cs typeface="Fira Code" pitchFamily="34" charset="-120"/>
              </a:rPr>
              <a:t>AND</a:t>
            </a:r>
            <a:pPr algn="l" indent="0" marL="0">
              <a:lnSpc>
                <a:spcPts val="1100"/>
              </a:lnSpc>
              <a:buNone/>
            </a:pPr>
            <a:r>
              <a:rPr lang="en-US" sz="674" dirty="0">
                <a:solidFill>
                  <a:srgbClr val="FAFAFA"/>
                </a:solidFill>
                <a:latin typeface="Fira Code" pitchFamily="34" charset="0"/>
                <a:ea typeface="Fira Code" pitchFamily="34" charset="-122"/>
                <a:cs typeface="Fira Code" pitchFamily="34" charset="-120"/>
              </a:rPr>
              <a:t> Heart Rate &gt; </a:t>
            </a:r>
            <a:pPr algn="l" indent="0" marL="0">
              <a:lnSpc>
                <a:spcPts val="1100"/>
              </a:lnSpc>
              <a:buNone/>
            </a:pPr>
            <a:r>
              <a:rPr lang="en-US" sz="674" dirty="0">
                <a:solidFill>
                  <a:srgbClr val="F2C94C"/>
                </a:solidFill>
                <a:latin typeface="Fira Code" pitchFamily="34" charset="0"/>
                <a:ea typeface="Fira Code" pitchFamily="34" charset="-122"/>
                <a:cs typeface="Fira Code" pitchFamily="34" charset="-120"/>
              </a:rPr>
              <a:t>110 bpm</a:t>
            </a:r>
            <a:pPr algn="l" indent="0" marL="0">
              <a:lnSpc>
                <a:spcPts val="1100"/>
              </a:lnSpc>
              <a:buNone/>
            </a:pPr>
            <a:r>
              <a:rPr lang="en-US" sz="674" dirty="0">
                <a:solidFill>
                  <a:srgbClr val="FAFAFA"/>
                </a:solidFill>
                <a:latin typeface="Fira Code" pitchFamily="34" charset="0"/>
                <a:ea typeface="Fira Code" pitchFamily="34" charset="-122"/>
                <a:cs typeface="Fira Code" pitchFamily="34" charset="-120"/>
              </a:rPr>
              <a:t>
</a:t>
            </a:r>
            <a:pPr algn="l" indent="0" marL="0">
              <a:lnSpc>
                <a:spcPts val="1100"/>
              </a:lnSpc>
              <a:buNone/>
            </a:pPr>
            <a:pPr algn="l" indent="0" marL="0">
              <a:lnSpc>
                <a:spcPts val="1100"/>
              </a:lnSpc>
              <a:buNone/>
            </a:pPr>
            <a:r>
              <a:rPr lang="en-US" sz="674" dirty="0">
                <a:solidFill>
                  <a:srgbClr val="D94841"/>
                </a:solidFill>
                <a:latin typeface="Fira Code" pitchFamily="34" charset="0"/>
                <a:ea typeface="Fira Code" pitchFamily="34" charset="-122"/>
                <a:cs typeface="Fira Code" pitchFamily="34" charset="-120"/>
              </a:rPr>
              <a:t>THEN</a:t>
            </a:r>
            <a:pPr algn="l" indent="0" marL="0">
              <a:lnSpc>
                <a:spcPts val="1100"/>
              </a:lnSpc>
              <a:buNone/>
            </a:pPr>
            <a:r>
              <a:rPr lang="en-US" sz="674" dirty="0">
                <a:solidFill>
                  <a:srgbClr val="FAFAFA"/>
                </a:solidFill>
                <a:latin typeface="Fira Code" pitchFamily="34" charset="0"/>
                <a:ea typeface="Fira Code" pitchFamily="34" charset="-122"/>
                <a:cs typeface="Fira Code" pitchFamily="34" charset="-120"/>
              </a:rPr>
              <a:t> Category = </a:t>
            </a:r>
            <a:pPr algn="l" indent="0" marL="0">
              <a:lnSpc>
                <a:spcPts val="1100"/>
              </a:lnSpc>
              <a:buNone/>
            </a:pPr>
            <a:r>
              <a:rPr lang="en-US" sz="674" dirty="0">
                <a:solidFill>
                  <a:srgbClr val="F2C94C"/>
                </a:solidFill>
                <a:latin typeface="Fira Code" pitchFamily="34" charset="0"/>
                <a:ea typeface="Fira Code" pitchFamily="34" charset="-122"/>
                <a:cs typeface="Fira Code" pitchFamily="34" charset="-120"/>
              </a:rPr>
              <a:t>CRITICAL</a:t>
            </a:r>
            <a:pPr algn="l" indent="0" marL="0">
              <a:lnSpc>
                <a:spcPts val="1100"/>
              </a:lnSpc>
              <a:buNone/>
            </a:pPr>
            <a:endParaRPr lang="en-US" sz="674" dirty="0"/>
          </a:p>
        </p:txBody>
      </p:sp>
      <p:sp>
        <p:nvSpPr>
          <p:cNvPr id="13" name="Text 10"/>
          <p:cNvSpPr/>
          <p:nvPr/>
        </p:nvSpPr>
        <p:spPr>
          <a:xfrm>
            <a:off x="3333731" y="2744986"/>
            <a:ext cx="150019" cy="285750"/>
          </a:xfrm>
          <a:prstGeom prst="rect">
            <a:avLst/>
          </a:prstGeom>
          <a:noFill/>
          <a:ln/>
        </p:spPr>
        <p:txBody>
          <a:bodyPr wrap="none" lIns="0" tIns="0" rIns="0" bIns="0" rtlCol="0" anchor="t">
            <a:spAutoFit/>
          </a:bodyPr>
          <a:lstStyle/>
          <a:p>
            <a:pPr algn="l" indent="0" marL="0">
              <a:lnSpc>
                <a:spcPts val="2300"/>
              </a:lnSpc>
              <a:buNone/>
            </a:pPr>
            <a:r>
              <a:rPr lang="en-US" sz="2016" b="1" dirty="0">
                <a:solidFill>
                  <a:srgbClr val="D94841"/>
                </a:solidFill>
                <a:latin typeface="Playfair Display" pitchFamily="34" charset="0"/>
                <a:ea typeface="Playfair Display" pitchFamily="34" charset="-122"/>
                <a:cs typeface="Playfair Display" pitchFamily="34" charset="-120"/>
              </a:rPr>
              <a:t>2</a:t>
            </a:r>
            <a:endParaRPr lang="en-US" sz="2016" dirty="0"/>
          </a:p>
        </p:txBody>
      </p:sp>
      <p:sp>
        <p:nvSpPr>
          <p:cNvPr id="14" name="Text 11"/>
          <p:cNvSpPr/>
          <p:nvPr/>
        </p:nvSpPr>
        <p:spPr>
          <a:xfrm>
            <a:off x="3598050" y="2783384"/>
            <a:ext cx="1521619" cy="20895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latin typeface="Playfair Display" pitchFamily="34" charset="0"/>
                <a:ea typeface="Playfair Display" pitchFamily="34" charset="-122"/>
                <a:cs typeface="Playfair Display" pitchFamily="34" charset="-120"/>
              </a:rPr>
              <a:t>Automated Classifier</a:t>
            </a:r>
            <a:endParaRPr lang="en-US" sz="1090" dirty="0"/>
          </a:p>
        </p:txBody>
      </p:sp>
      <p:sp>
        <p:nvSpPr>
          <p:cNvPr id="15" name="Text 12"/>
          <p:cNvSpPr/>
          <p:nvPr/>
        </p:nvSpPr>
        <p:spPr>
          <a:xfrm>
            <a:off x="3333731" y="3273623"/>
            <a:ext cx="2476509" cy="6858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A background service that continuously processes incoming patient vitals against the Rule Engine to auto-assign urgency status in real time.</a:t>
            </a:r>
            <a:endParaRPr lang="en-US" sz="834" dirty="0"/>
          </a:p>
        </p:txBody>
      </p:sp>
      <p:sp>
        <p:nvSpPr>
          <p:cNvPr id="16" name="Text 13"/>
          <p:cNvSpPr/>
          <p:nvPr/>
        </p:nvSpPr>
        <p:spPr>
          <a:xfrm>
            <a:off x="6095991" y="2744986"/>
            <a:ext cx="139303" cy="285750"/>
          </a:xfrm>
          <a:prstGeom prst="rect">
            <a:avLst/>
          </a:prstGeom>
          <a:noFill/>
          <a:ln/>
        </p:spPr>
        <p:txBody>
          <a:bodyPr wrap="none" lIns="0" tIns="0" rIns="0" bIns="0" rtlCol="0" anchor="t">
            <a:spAutoFit/>
          </a:bodyPr>
          <a:lstStyle/>
          <a:p>
            <a:pPr algn="l" indent="0" marL="0">
              <a:lnSpc>
                <a:spcPts val="2300"/>
              </a:lnSpc>
              <a:buNone/>
            </a:pPr>
            <a:r>
              <a:rPr lang="en-US" sz="2016" b="1" dirty="0">
                <a:solidFill>
                  <a:srgbClr val="D94841"/>
                </a:solidFill>
                <a:latin typeface="Playfair Display" pitchFamily="34" charset="0"/>
                <a:ea typeface="Playfair Display" pitchFamily="34" charset="-122"/>
                <a:cs typeface="Playfair Display" pitchFamily="34" charset="-120"/>
              </a:rPr>
              <a:t>3</a:t>
            </a:r>
            <a:endParaRPr lang="en-US" sz="2016" dirty="0"/>
          </a:p>
        </p:txBody>
      </p:sp>
      <p:sp>
        <p:nvSpPr>
          <p:cNvPr id="17" name="Text 14"/>
          <p:cNvSpPr/>
          <p:nvPr/>
        </p:nvSpPr>
        <p:spPr>
          <a:xfrm>
            <a:off x="6349594" y="2783384"/>
            <a:ext cx="1660922" cy="20895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latin typeface="Playfair Display" pitchFamily="34" charset="0"/>
                <a:ea typeface="Playfair Display" pitchFamily="34" charset="-122"/>
                <a:cs typeface="Playfair Display" pitchFamily="34" charset="-120"/>
              </a:rPr>
              <a:t>Managerial Dashboard</a:t>
            </a:r>
            <a:endParaRPr lang="en-US" sz="1090" dirty="0"/>
          </a:p>
        </p:txBody>
      </p:sp>
      <p:sp>
        <p:nvSpPr>
          <p:cNvPr id="18" name="Text 15"/>
          <p:cNvSpPr/>
          <p:nvPr/>
        </p:nvSpPr>
        <p:spPr>
          <a:xfrm>
            <a:off x="6095991" y="3273623"/>
            <a:ext cx="2476481"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A high-fidelity UI providing at-a-glance visibility into facility load, filterable by severity tier.</a:t>
            </a:r>
            <a:endParaRPr lang="en-US" sz="834" dirty="0"/>
          </a:p>
        </p:txBody>
      </p:sp>
      <p:pic>
        <p:nvPicPr>
          <p:cNvPr id="19" name="Image 1" descr="preencoded.png">    </p:cNvPr>
          <p:cNvPicPr>
            <a:picLocks noChangeAspect="1"/>
          </p:cNvPicPr>
          <p:nvPr/>
        </p:nvPicPr>
        <p:blipFill>
          <a:blip r:embed="rId2"/>
          <a:stretch>
            <a:fillRect/>
          </a:stretch>
        </p:blipFill>
        <p:spPr>
          <a:xfrm>
            <a:off x="6262669" y="3930848"/>
            <a:ext cx="2143125" cy="12858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211366"/>
          </a:xfrm>
          <a:prstGeom prst="rect">
            <a:avLst/>
          </a:prstGeom>
        </p:spPr>
      </p:pic>
      <p:sp>
        <p:nvSpPr>
          <p:cNvPr id="3" name="Text 0"/>
          <p:cNvSpPr/>
          <p:nvPr/>
        </p:nvSpPr>
        <p:spPr>
          <a:xfrm>
            <a:off x="571500" y="457200"/>
            <a:ext cx="8001000" cy="137517"/>
          </a:xfrm>
          <a:prstGeom prst="rect">
            <a:avLst/>
          </a:prstGeom>
          <a:noFill/>
          <a:ln/>
        </p:spPr>
        <p:txBody>
          <a:bodyPr wrap="none" lIns="0" tIns="0" rIns="0" bIns="0" rtlCol="0" anchor="t">
            <a:spAutoFit/>
          </a:bodyPr>
          <a:lstStyle/>
          <a:p>
            <a:pPr algn="l" indent="0" marL="0">
              <a:lnSpc>
                <a:spcPts val="1100"/>
              </a:lnSpc>
              <a:buNone/>
            </a:pPr>
            <a:r>
              <a:rPr lang="en-US" sz="784" b="1" spc="2" kern="0" dirty="0">
                <a:solidFill>
                  <a:srgbClr val="D94841"/>
                </a:solidFill>
                <a:latin typeface="Inter" pitchFamily="34" charset="0"/>
                <a:ea typeface="Inter" pitchFamily="34" charset="-122"/>
                <a:cs typeface="Inter" pitchFamily="34" charset="-120"/>
              </a:rPr>
              <a:t>CLASSIFICATION LOGIC</a:t>
            </a:r>
            <a:endParaRPr lang="en-US" sz="784" dirty="0"/>
          </a:p>
        </p:txBody>
      </p:sp>
      <p:sp>
        <p:nvSpPr>
          <p:cNvPr id="4" name="Text 1"/>
          <p:cNvSpPr/>
          <p:nvPr/>
        </p:nvSpPr>
        <p:spPr>
          <a:xfrm>
            <a:off x="571500" y="680442"/>
            <a:ext cx="8001000" cy="45720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Patient Urgency Tiers</a:t>
            </a:r>
            <a:endParaRPr lang="en-US" sz="2436" dirty="0"/>
          </a:p>
        </p:txBody>
      </p:sp>
      <p:sp>
        <p:nvSpPr>
          <p:cNvPr id="5" name="Shape 2"/>
          <p:cNvSpPr/>
          <p:nvPr/>
        </p:nvSpPr>
        <p:spPr>
          <a:xfrm>
            <a:off x="571500" y="1337667"/>
            <a:ext cx="571500" cy="28575"/>
          </a:xfrm>
          <a:prstGeom prst="rect">
            <a:avLst/>
          </a:prstGeom>
          <a:solidFill>
            <a:srgbClr val="F2C94C"/>
          </a:solidFill>
          <a:ln/>
        </p:spPr>
      </p:sp>
      <p:sp>
        <p:nvSpPr>
          <p:cNvPr id="6" name="Text 3"/>
          <p:cNvSpPr/>
          <p:nvPr/>
        </p:nvSpPr>
        <p:spPr>
          <a:xfrm>
            <a:off x="571500" y="1480542"/>
            <a:ext cx="6429375" cy="4572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595959"/>
                </a:solidFill>
                <a:latin typeface="Inter" pitchFamily="34" charset="0"/>
                <a:ea typeface="Inter" pitchFamily="34" charset="-122"/>
                <a:cs typeface="Inter" pitchFamily="34" charset="-120"/>
              </a:rPr>
              <a:t>The platform segments every patient into one of three operational tiers based on measurable vital thresholds, enabling consistent, objective prioritization.</a:t>
            </a:r>
            <a:endParaRPr lang="en-US" sz="1050" dirty="0"/>
          </a:p>
        </p:txBody>
      </p:sp>
      <p:pic>
        <p:nvPicPr>
          <p:cNvPr id="7" name="Image 1" descr="preencoded.png">    </p:cNvPr>
          <p:cNvPicPr>
            <a:picLocks noChangeAspect="1"/>
          </p:cNvPicPr>
          <p:nvPr/>
        </p:nvPicPr>
        <p:blipFill>
          <a:blip r:embed="rId2"/>
          <a:stretch>
            <a:fillRect/>
          </a:stretch>
        </p:blipFill>
        <p:spPr>
          <a:xfrm>
            <a:off x="571500" y="2327970"/>
            <a:ext cx="171450" cy="171450"/>
          </a:xfrm>
          <a:prstGeom prst="rect">
            <a:avLst/>
          </a:prstGeom>
        </p:spPr>
      </p:pic>
      <p:sp>
        <p:nvSpPr>
          <p:cNvPr id="8" name="Text 4"/>
          <p:cNvSpPr/>
          <p:nvPr/>
        </p:nvSpPr>
        <p:spPr>
          <a:xfrm>
            <a:off x="828675" y="2280642"/>
            <a:ext cx="694730" cy="266105"/>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Critical</a:t>
            </a:r>
            <a:endParaRPr lang="en-US" sz="1397" dirty="0"/>
          </a:p>
        </p:txBody>
      </p:sp>
      <p:sp>
        <p:nvSpPr>
          <p:cNvPr id="9" name="Text 5"/>
          <p:cNvSpPr/>
          <p:nvPr/>
        </p:nvSpPr>
        <p:spPr>
          <a:xfrm>
            <a:off x="571500" y="2789634"/>
            <a:ext cx="2476481"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1A1A1A"/>
                </a:solidFill>
                <a:latin typeface="Inter" pitchFamily="34" charset="0"/>
                <a:ea typeface="Inter" pitchFamily="34" charset="-122"/>
                <a:cs typeface="Inter" pitchFamily="34" charset="-120"/>
              </a:rPr>
              <a:t>CRITERIA EXAMPLE</a:t>
            </a:r>
            <a:endParaRPr lang="en-US" sz="683" dirty="0"/>
          </a:p>
        </p:txBody>
      </p:sp>
      <p:sp>
        <p:nvSpPr>
          <p:cNvPr id="10" name="Text 6"/>
          <p:cNvSpPr/>
          <p:nvPr/>
        </p:nvSpPr>
        <p:spPr>
          <a:xfrm>
            <a:off x="571500" y="2968228"/>
            <a:ext cx="2476481"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SpO₂ &lt; 90% AND HR &gt; 110 bpm</a:t>
            </a:r>
            <a:endParaRPr lang="en-US" sz="834" dirty="0"/>
          </a:p>
        </p:txBody>
      </p:sp>
      <p:sp>
        <p:nvSpPr>
          <p:cNvPr id="11" name="Text 7"/>
          <p:cNvSpPr/>
          <p:nvPr/>
        </p:nvSpPr>
        <p:spPr>
          <a:xfrm>
            <a:off x="571500" y="3282553"/>
            <a:ext cx="2476481"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1A1A1A"/>
                </a:solidFill>
                <a:latin typeface="Inter" pitchFamily="34" charset="0"/>
                <a:ea typeface="Inter" pitchFamily="34" charset="-122"/>
                <a:cs typeface="Inter" pitchFamily="34" charset="-120"/>
              </a:rPr>
              <a:t>OPERATIONAL RESPONSE</a:t>
            </a:r>
            <a:endParaRPr lang="en-US" sz="683" dirty="0"/>
          </a:p>
        </p:txBody>
      </p:sp>
      <p:sp>
        <p:nvSpPr>
          <p:cNvPr id="12" name="Text 8"/>
          <p:cNvSpPr/>
          <p:nvPr/>
        </p:nvSpPr>
        <p:spPr>
          <a:xfrm>
            <a:off x="571500" y="3461147"/>
            <a:ext cx="2476481"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Immediate escalation, priority bed assignment</a:t>
            </a:r>
            <a:endParaRPr lang="en-US" sz="834" dirty="0"/>
          </a:p>
        </p:txBody>
      </p:sp>
      <p:pic>
        <p:nvPicPr>
          <p:cNvPr id="13" name="Image 2" descr="preencoded.png">    </p:cNvPr>
          <p:cNvPicPr>
            <a:picLocks noChangeAspect="1"/>
          </p:cNvPicPr>
          <p:nvPr/>
        </p:nvPicPr>
        <p:blipFill>
          <a:blip r:embed="rId3"/>
          <a:stretch>
            <a:fillRect/>
          </a:stretch>
        </p:blipFill>
        <p:spPr>
          <a:xfrm>
            <a:off x="3333731" y="2327970"/>
            <a:ext cx="171450" cy="171450"/>
          </a:xfrm>
          <a:prstGeom prst="rect">
            <a:avLst/>
          </a:prstGeom>
        </p:spPr>
      </p:pic>
      <p:sp>
        <p:nvSpPr>
          <p:cNvPr id="14" name="Text 9"/>
          <p:cNvSpPr/>
          <p:nvPr/>
        </p:nvSpPr>
        <p:spPr>
          <a:xfrm>
            <a:off x="3590906" y="2280642"/>
            <a:ext cx="878681" cy="266105"/>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Moderate</a:t>
            </a:r>
            <a:endParaRPr lang="en-US" sz="1397" dirty="0"/>
          </a:p>
        </p:txBody>
      </p:sp>
      <p:sp>
        <p:nvSpPr>
          <p:cNvPr id="15" name="Text 10"/>
          <p:cNvSpPr/>
          <p:nvPr/>
        </p:nvSpPr>
        <p:spPr>
          <a:xfrm>
            <a:off x="3333731" y="2789634"/>
            <a:ext cx="2476509"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1A1A1A"/>
                </a:solidFill>
                <a:latin typeface="Inter" pitchFamily="34" charset="0"/>
                <a:ea typeface="Inter" pitchFamily="34" charset="-122"/>
                <a:cs typeface="Inter" pitchFamily="34" charset="-120"/>
              </a:rPr>
              <a:t>CRITERIA EXAMPLE</a:t>
            </a:r>
            <a:endParaRPr lang="en-US" sz="683" dirty="0"/>
          </a:p>
        </p:txBody>
      </p:sp>
      <p:sp>
        <p:nvSpPr>
          <p:cNvPr id="16" name="Text 11"/>
          <p:cNvSpPr/>
          <p:nvPr/>
        </p:nvSpPr>
        <p:spPr>
          <a:xfrm>
            <a:off x="3333731" y="2968228"/>
            <a:ext cx="2476509"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SpO₂ 90–94% OR elevated temperature</a:t>
            </a:r>
            <a:endParaRPr lang="en-US" sz="834" dirty="0"/>
          </a:p>
        </p:txBody>
      </p:sp>
      <p:sp>
        <p:nvSpPr>
          <p:cNvPr id="17" name="Text 12"/>
          <p:cNvSpPr/>
          <p:nvPr/>
        </p:nvSpPr>
        <p:spPr>
          <a:xfrm>
            <a:off x="3333731" y="3282553"/>
            <a:ext cx="2476509"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1A1A1A"/>
                </a:solidFill>
                <a:latin typeface="Inter" pitchFamily="34" charset="0"/>
                <a:ea typeface="Inter" pitchFamily="34" charset="-122"/>
                <a:cs typeface="Inter" pitchFamily="34" charset="-120"/>
              </a:rPr>
              <a:t>OPERATIONAL RESPONSE</a:t>
            </a:r>
            <a:endParaRPr lang="en-US" sz="683" dirty="0"/>
          </a:p>
        </p:txBody>
      </p:sp>
      <p:sp>
        <p:nvSpPr>
          <p:cNvPr id="18" name="Text 13"/>
          <p:cNvSpPr/>
          <p:nvPr/>
        </p:nvSpPr>
        <p:spPr>
          <a:xfrm>
            <a:off x="3333731" y="3461147"/>
            <a:ext cx="2476509"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Close monitoring, scheduled intervention</a:t>
            </a:r>
            <a:endParaRPr lang="en-US" sz="834" dirty="0"/>
          </a:p>
        </p:txBody>
      </p:sp>
      <p:pic>
        <p:nvPicPr>
          <p:cNvPr id="19" name="Image 3" descr="preencoded.png">    </p:cNvPr>
          <p:cNvPicPr>
            <a:picLocks noChangeAspect="1"/>
          </p:cNvPicPr>
          <p:nvPr/>
        </p:nvPicPr>
        <p:blipFill>
          <a:blip r:embed="rId4"/>
          <a:stretch>
            <a:fillRect/>
          </a:stretch>
        </p:blipFill>
        <p:spPr>
          <a:xfrm>
            <a:off x="6095991" y="2327970"/>
            <a:ext cx="171450" cy="171450"/>
          </a:xfrm>
          <a:prstGeom prst="rect">
            <a:avLst/>
          </a:prstGeom>
        </p:spPr>
      </p:pic>
      <p:sp>
        <p:nvSpPr>
          <p:cNvPr id="20" name="Text 14"/>
          <p:cNvSpPr/>
          <p:nvPr/>
        </p:nvSpPr>
        <p:spPr>
          <a:xfrm>
            <a:off x="6353166" y="2280642"/>
            <a:ext cx="566142" cy="266105"/>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Stable</a:t>
            </a:r>
            <a:endParaRPr lang="en-US" sz="1397" dirty="0"/>
          </a:p>
        </p:txBody>
      </p:sp>
      <p:sp>
        <p:nvSpPr>
          <p:cNvPr id="21" name="Text 15"/>
          <p:cNvSpPr/>
          <p:nvPr/>
        </p:nvSpPr>
        <p:spPr>
          <a:xfrm>
            <a:off x="6095991" y="2789634"/>
            <a:ext cx="2476481"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1A1A1A"/>
                </a:solidFill>
                <a:latin typeface="Inter" pitchFamily="34" charset="0"/>
                <a:ea typeface="Inter" pitchFamily="34" charset="-122"/>
                <a:cs typeface="Inter" pitchFamily="34" charset="-120"/>
              </a:rPr>
              <a:t>CRITERIA EXAMPLE</a:t>
            </a:r>
            <a:endParaRPr lang="en-US" sz="683" dirty="0"/>
          </a:p>
        </p:txBody>
      </p:sp>
      <p:sp>
        <p:nvSpPr>
          <p:cNvPr id="22" name="Text 16"/>
          <p:cNvSpPr/>
          <p:nvPr/>
        </p:nvSpPr>
        <p:spPr>
          <a:xfrm>
            <a:off x="6095991" y="2968228"/>
            <a:ext cx="2476481"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All vitals within normal range</a:t>
            </a:r>
            <a:endParaRPr lang="en-US" sz="834" dirty="0"/>
          </a:p>
        </p:txBody>
      </p:sp>
      <p:sp>
        <p:nvSpPr>
          <p:cNvPr id="23" name="Text 17"/>
          <p:cNvSpPr/>
          <p:nvPr/>
        </p:nvSpPr>
        <p:spPr>
          <a:xfrm>
            <a:off x="6095991" y="3282553"/>
            <a:ext cx="2476481"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1A1A1A"/>
                </a:solidFill>
                <a:latin typeface="Inter" pitchFamily="34" charset="0"/>
                <a:ea typeface="Inter" pitchFamily="34" charset="-122"/>
                <a:cs typeface="Inter" pitchFamily="34" charset="-120"/>
              </a:rPr>
              <a:t>OPERATIONAL RESPONSE</a:t>
            </a:r>
            <a:endParaRPr lang="en-US" sz="683" dirty="0"/>
          </a:p>
        </p:txBody>
      </p:sp>
      <p:sp>
        <p:nvSpPr>
          <p:cNvPr id="24" name="Text 18"/>
          <p:cNvSpPr/>
          <p:nvPr/>
        </p:nvSpPr>
        <p:spPr>
          <a:xfrm>
            <a:off x="6095991" y="3461147"/>
            <a:ext cx="2476481"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Routine care, standard resource allocation</a:t>
            </a:r>
            <a:endParaRPr lang="en-US" sz="834" dirty="0"/>
          </a:p>
        </p:txBody>
      </p:sp>
      <p:sp>
        <p:nvSpPr>
          <p:cNvPr id="25" name="Shape 19"/>
          <p:cNvSpPr/>
          <p:nvPr/>
        </p:nvSpPr>
        <p:spPr>
          <a:xfrm>
            <a:off x="571500" y="4289822"/>
            <a:ext cx="8001000" cy="921544"/>
          </a:xfrm>
          <a:prstGeom prst="rect">
            <a:avLst/>
          </a:prstGeom>
          <a:solidFill>
            <a:srgbClr val="000000">
              <a:alpha val="0"/>
            </a:srgbClr>
          </a:solidFill>
          <a:ln/>
        </p:spPr>
      </p:sp>
      <p:sp>
        <p:nvSpPr>
          <p:cNvPr id="26" name="Shape 20"/>
          <p:cNvSpPr/>
          <p:nvPr/>
        </p:nvSpPr>
        <p:spPr>
          <a:xfrm>
            <a:off x="571500" y="4289822"/>
            <a:ext cx="8001000" cy="7144"/>
          </a:xfrm>
          <a:prstGeom prst="rect">
            <a:avLst/>
          </a:prstGeom>
          <a:solidFill>
            <a:srgbClr val="E0E0E0"/>
          </a:solidFill>
          <a:ln/>
        </p:spPr>
      </p:sp>
      <p:sp>
        <p:nvSpPr>
          <p:cNvPr id="27" name="Text 21"/>
          <p:cNvSpPr/>
          <p:nvPr/>
        </p:nvSpPr>
        <p:spPr>
          <a:xfrm>
            <a:off x="571500" y="4518422"/>
            <a:ext cx="1785938" cy="685800"/>
          </a:xfrm>
          <a:prstGeom prst="rect">
            <a:avLst/>
          </a:prstGeom>
          <a:noFill/>
          <a:ln/>
        </p:spPr>
        <p:txBody>
          <a:bodyPr wrap="square" lIns="0" tIns="0" rIns="0" bIns="0" rtlCol="0" anchor="t">
            <a:spAutoFit/>
          </a:bodyPr>
          <a:lstStyle/>
          <a:p>
            <a:pPr algn="l"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Rule Engine Flexibility</a:t>
            </a:r>
            <a:endParaRPr lang="en-US" sz="1193" dirty="0"/>
          </a:p>
        </p:txBody>
      </p:sp>
      <p:pic>
        <p:nvPicPr>
          <p:cNvPr id="28" name="Image 4" descr="preencoded.png">    </p:cNvPr>
          <p:cNvPicPr>
            <a:picLocks noChangeAspect="1"/>
          </p:cNvPicPr>
          <p:nvPr/>
        </p:nvPicPr>
        <p:blipFill>
          <a:blip r:embed="rId5"/>
          <a:stretch>
            <a:fillRect/>
          </a:stretch>
        </p:blipFill>
        <p:spPr>
          <a:xfrm>
            <a:off x="2643188" y="4546997"/>
            <a:ext cx="114300" cy="114300"/>
          </a:xfrm>
          <a:prstGeom prst="rect">
            <a:avLst/>
          </a:prstGeom>
        </p:spPr>
      </p:pic>
      <p:sp>
        <p:nvSpPr>
          <p:cNvPr id="29" name="Text 22"/>
          <p:cNvSpPr/>
          <p:nvPr/>
        </p:nvSpPr>
        <p:spPr>
          <a:xfrm>
            <a:off x="2843213" y="4518422"/>
            <a:ext cx="3375422"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Thresholds are fully configurable by authorized Administrators</a:t>
            </a:r>
            <a:endParaRPr lang="en-US" sz="834" dirty="0"/>
          </a:p>
        </p:txBody>
      </p:sp>
      <p:pic>
        <p:nvPicPr>
          <p:cNvPr id="30" name="Image 5" descr="preencoded.png">    </p:cNvPr>
          <p:cNvPicPr>
            <a:picLocks noChangeAspect="1"/>
          </p:cNvPicPr>
          <p:nvPr/>
        </p:nvPicPr>
        <p:blipFill>
          <a:blip r:embed="rId6"/>
          <a:stretch>
            <a:fillRect/>
          </a:stretch>
        </p:blipFill>
        <p:spPr>
          <a:xfrm>
            <a:off x="2643188" y="4804172"/>
            <a:ext cx="114300" cy="114300"/>
          </a:xfrm>
          <a:prstGeom prst="rect">
            <a:avLst/>
          </a:prstGeom>
        </p:spPr>
      </p:pic>
      <p:sp>
        <p:nvSpPr>
          <p:cNvPr id="31" name="Text 23"/>
          <p:cNvSpPr/>
          <p:nvPr/>
        </p:nvSpPr>
        <p:spPr>
          <a:xfrm>
            <a:off x="2843213" y="4775597"/>
            <a:ext cx="2584252"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Rules can be updated without system downtime</a:t>
            </a:r>
            <a:endParaRPr lang="en-US" sz="834" dirty="0"/>
          </a:p>
        </p:txBody>
      </p:sp>
      <p:pic>
        <p:nvPicPr>
          <p:cNvPr id="32" name="Image 6" descr="preencoded.png">    </p:cNvPr>
          <p:cNvPicPr>
            <a:picLocks noChangeAspect="1"/>
          </p:cNvPicPr>
          <p:nvPr/>
        </p:nvPicPr>
        <p:blipFill>
          <a:blip r:embed="rId7"/>
          <a:stretch>
            <a:fillRect/>
          </a:stretch>
        </p:blipFill>
        <p:spPr>
          <a:xfrm>
            <a:off x="2643188" y="5061347"/>
            <a:ext cx="114300" cy="114300"/>
          </a:xfrm>
          <a:prstGeom prst="rect">
            <a:avLst/>
          </a:prstGeom>
        </p:spPr>
      </p:pic>
      <p:sp>
        <p:nvSpPr>
          <p:cNvPr id="33" name="Text 24"/>
          <p:cNvSpPr/>
          <p:nvPr/>
        </p:nvSpPr>
        <p:spPr>
          <a:xfrm>
            <a:off x="2843213" y="5032772"/>
            <a:ext cx="4520208"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Multiple conditions can be combined using AND/OR logic for nuanced classification</a:t>
            </a:r>
            <a:endParaRPr lang="en-US" sz="83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57200"/>
            <a:ext cx="8001000" cy="137517"/>
          </a:xfrm>
          <a:prstGeom prst="rect">
            <a:avLst/>
          </a:prstGeom>
          <a:noFill/>
          <a:ln/>
        </p:spPr>
        <p:txBody>
          <a:bodyPr wrap="none" lIns="0" tIns="0" rIns="0" bIns="0" rtlCol="0" anchor="t">
            <a:spAutoFit/>
          </a:bodyPr>
          <a:lstStyle/>
          <a:p>
            <a:pPr algn="l" indent="0" marL="0">
              <a:lnSpc>
                <a:spcPts val="1100"/>
              </a:lnSpc>
              <a:buNone/>
            </a:pPr>
            <a:r>
              <a:rPr lang="en-US" sz="784" b="1" spc="2" kern="0" dirty="0">
                <a:solidFill>
                  <a:srgbClr val="D94841"/>
                </a:solidFill>
                <a:latin typeface="Inter" pitchFamily="34" charset="0"/>
                <a:ea typeface="Inter" pitchFamily="34" charset="-122"/>
                <a:cs typeface="Inter" pitchFamily="34" charset="-120"/>
              </a:rPr>
              <a:t>TECHNICAL STRATEGY</a:t>
            </a:r>
            <a:endParaRPr lang="en-US" sz="784" dirty="0"/>
          </a:p>
        </p:txBody>
      </p:sp>
      <p:sp>
        <p:nvSpPr>
          <p:cNvPr id="4" name="Text 1"/>
          <p:cNvSpPr/>
          <p:nvPr/>
        </p:nvSpPr>
        <p:spPr>
          <a:xfrm>
            <a:off x="571500" y="709017"/>
            <a:ext cx="3525441" cy="45720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Technical Architecture</a:t>
            </a:r>
            <a:endParaRPr lang="en-US" sz="2436" dirty="0"/>
          </a:p>
        </p:txBody>
      </p:sp>
      <p:sp>
        <p:nvSpPr>
          <p:cNvPr id="5" name="Text 2"/>
          <p:cNvSpPr/>
          <p:nvPr/>
        </p:nvSpPr>
        <p:spPr>
          <a:xfrm>
            <a:off x="571500" y="1223367"/>
            <a:ext cx="3525441" cy="207169"/>
          </a:xfrm>
          <a:prstGeom prst="rect">
            <a:avLst/>
          </a:prstGeom>
          <a:noFill/>
          <a:ln/>
        </p:spPr>
        <p:txBody>
          <a:bodyPr wrap="none" lIns="0" tIns="0" rIns="0" bIns="0" rtlCol="0" anchor="t">
            <a:spAutoFit/>
          </a:bodyPr>
          <a:lstStyle/>
          <a:p>
            <a:pPr algn="l" indent="0" marL="0">
              <a:lnSpc>
                <a:spcPts val="1600"/>
              </a:lnSpc>
              <a:buNone/>
            </a:pPr>
            <a:r>
              <a:rPr lang="en-US" sz="1269" dirty="0">
                <a:solidFill>
                  <a:srgbClr val="595959"/>
                </a:solidFill>
                <a:latin typeface="Inter" pitchFamily="34" charset="0"/>
                <a:ea typeface="Inter" pitchFamily="34" charset="-122"/>
                <a:cs typeface="Inter" pitchFamily="34" charset="-120"/>
              </a:rPr>
              <a:t>Built for Production-Grade Healthcare</a:t>
            </a:r>
            <a:endParaRPr lang="en-US" sz="1269" dirty="0"/>
          </a:p>
        </p:txBody>
      </p:sp>
      <p:sp>
        <p:nvSpPr>
          <p:cNvPr id="6" name="Shape 3"/>
          <p:cNvSpPr/>
          <p:nvPr/>
        </p:nvSpPr>
        <p:spPr>
          <a:xfrm>
            <a:off x="571500" y="1487686"/>
            <a:ext cx="571500" cy="28575"/>
          </a:xfrm>
          <a:prstGeom prst="rect">
            <a:avLst/>
          </a:prstGeom>
          <a:solidFill>
            <a:srgbClr val="F2C94C"/>
          </a:solidFill>
          <a:ln/>
        </p:spPr>
      </p:sp>
      <p:sp>
        <p:nvSpPr>
          <p:cNvPr id="7" name="Text 4"/>
          <p:cNvSpPr/>
          <p:nvPr/>
        </p:nvSpPr>
        <p:spPr>
          <a:xfrm>
            <a:off x="571500" y="1773436"/>
            <a:ext cx="6429375" cy="4572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595959"/>
                </a:solidFill>
                <a:latin typeface="Inter" pitchFamily="34" charset="0"/>
                <a:ea typeface="Inter" pitchFamily="34" charset="-122"/>
                <a:cs typeface="Inter" pitchFamily="34" charset="-120"/>
              </a:rPr>
              <a:t>VitalTriage AI is designed using a modern, scalable technology stack optimized for reliability, security, and rapid deployment.</a:t>
            </a:r>
            <a:endParaRPr lang="en-US" sz="1050" dirty="0"/>
          </a:p>
        </p:txBody>
      </p:sp>
      <p:sp>
        <p:nvSpPr>
          <p:cNvPr id="8" name="Text 5"/>
          <p:cNvSpPr/>
          <p:nvPr/>
        </p:nvSpPr>
        <p:spPr>
          <a:xfrm>
            <a:off x="571500" y="2459236"/>
            <a:ext cx="4457700" cy="266105"/>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Development Stack</a:t>
            </a:r>
            <a:endParaRPr lang="en-US" sz="1397" dirty="0"/>
          </a:p>
        </p:txBody>
      </p:sp>
      <p:pic>
        <p:nvPicPr>
          <p:cNvPr id="9" name="Image 1" descr="preencoded.png">    </p:cNvPr>
          <p:cNvPicPr>
            <a:picLocks noChangeAspect="1"/>
          </p:cNvPicPr>
          <p:nvPr/>
        </p:nvPicPr>
        <p:blipFill>
          <a:blip r:embed="rId2"/>
          <a:stretch>
            <a:fillRect/>
          </a:stretch>
        </p:blipFill>
        <p:spPr>
          <a:xfrm>
            <a:off x="571500" y="2868216"/>
            <a:ext cx="285750" cy="200025"/>
          </a:xfrm>
          <a:prstGeom prst="rect">
            <a:avLst/>
          </a:prstGeom>
        </p:spPr>
      </p:pic>
      <p:sp>
        <p:nvSpPr>
          <p:cNvPr id="10" name="Text 6"/>
          <p:cNvSpPr/>
          <p:nvPr/>
        </p:nvSpPr>
        <p:spPr>
          <a:xfrm>
            <a:off x="942975" y="2868216"/>
            <a:ext cx="177165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4841"/>
                </a:solidFill>
                <a:latin typeface="Inter" pitchFamily="34" charset="0"/>
                <a:ea typeface="Inter" pitchFamily="34" charset="-122"/>
                <a:cs typeface="Inter" pitchFamily="34" charset="-120"/>
              </a:rPr>
              <a:t>FRONTEND</a:t>
            </a:r>
            <a:endParaRPr lang="en-US" sz="683" dirty="0"/>
          </a:p>
        </p:txBody>
      </p:sp>
      <p:sp>
        <p:nvSpPr>
          <p:cNvPr id="11" name="Text 7"/>
          <p:cNvSpPr/>
          <p:nvPr/>
        </p:nvSpPr>
        <p:spPr>
          <a:xfrm>
            <a:off x="942975" y="3018234"/>
            <a:ext cx="1771650"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A1A1A"/>
                </a:solidFill>
                <a:latin typeface="Inter" pitchFamily="34" charset="0"/>
                <a:ea typeface="Inter" pitchFamily="34" charset="-122"/>
                <a:cs typeface="Inter" pitchFamily="34" charset="-120"/>
              </a:rPr>
              <a:t>React.js / Streamlit</a:t>
            </a:r>
            <a:endParaRPr lang="en-US" sz="987" dirty="0"/>
          </a:p>
        </p:txBody>
      </p:sp>
      <p:sp>
        <p:nvSpPr>
          <p:cNvPr id="12" name="Text 8"/>
          <p:cNvSpPr/>
          <p:nvPr/>
        </p:nvSpPr>
        <p:spPr>
          <a:xfrm>
            <a:off x="942975" y="3248620"/>
            <a:ext cx="1771650"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Professional, responsive UI/UX for the managerial dashboard</a:t>
            </a:r>
            <a:endParaRPr lang="en-US" sz="834" dirty="0"/>
          </a:p>
        </p:txBody>
      </p:sp>
      <p:pic>
        <p:nvPicPr>
          <p:cNvPr id="13" name="Image 2" descr="preencoded.png">    </p:cNvPr>
          <p:cNvPicPr>
            <a:picLocks noChangeAspect="1"/>
          </p:cNvPicPr>
          <p:nvPr/>
        </p:nvPicPr>
        <p:blipFill>
          <a:blip r:embed="rId3"/>
          <a:stretch>
            <a:fillRect/>
          </a:stretch>
        </p:blipFill>
        <p:spPr>
          <a:xfrm>
            <a:off x="2886075" y="2868216"/>
            <a:ext cx="285750" cy="200025"/>
          </a:xfrm>
          <a:prstGeom prst="rect">
            <a:avLst/>
          </a:prstGeom>
        </p:spPr>
      </p:pic>
      <p:sp>
        <p:nvSpPr>
          <p:cNvPr id="14" name="Text 9"/>
          <p:cNvSpPr/>
          <p:nvPr/>
        </p:nvSpPr>
        <p:spPr>
          <a:xfrm>
            <a:off x="3257550" y="2868216"/>
            <a:ext cx="177165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4841"/>
                </a:solidFill>
                <a:latin typeface="Inter" pitchFamily="34" charset="0"/>
                <a:ea typeface="Inter" pitchFamily="34" charset="-122"/>
                <a:cs typeface="Inter" pitchFamily="34" charset="-120"/>
              </a:rPr>
              <a:t>BACKEND</a:t>
            </a:r>
            <a:endParaRPr lang="en-US" sz="683" dirty="0"/>
          </a:p>
        </p:txBody>
      </p:sp>
      <p:sp>
        <p:nvSpPr>
          <p:cNvPr id="15" name="Text 10"/>
          <p:cNvSpPr/>
          <p:nvPr/>
        </p:nvSpPr>
        <p:spPr>
          <a:xfrm>
            <a:off x="3257550" y="3018234"/>
            <a:ext cx="1771650"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A1A1A"/>
                </a:solidFill>
                <a:latin typeface="Inter" pitchFamily="34" charset="0"/>
                <a:ea typeface="Inter" pitchFamily="34" charset="-122"/>
                <a:cs typeface="Inter" pitchFamily="34" charset="-120"/>
              </a:rPr>
              <a:t>FastAPI (Python)</a:t>
            </a:r>
            <a:endParaRPr lang="en-US" sz="987" dirty="0"/>
          </a:p>
        </p:txBody>
      </p:sp>
      <p:sp>
        <p:nvSpPr>
          <p:cNvPr id="16" name="Text 11"/>
          <p:cNvSpPr/>
          <p:nvPr/>
        </p:nvSpPr>
        <p:spPr>
          <a:xfrm>
            <a:off x="3257550" y="3248620"/>
            <a:ext cx="1771650"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High-performance Rule Engine logic and REST API</a:t>
            </a:r>
            <a:endParaRPr lang="en-US" sz="834" dirty="0"/>
          </a:p>
        </p:txBody>
      </p:sp>
      <p:pic>
        <p:nvPicPr>
          <p:cNvPr id="17" name="Image 3" descr="preencoded.png">    </p:cNvPr>
          <p:cNvPicPr>
            <a:picLocks noChangeAspect="1"/>
          </p:cNvPicPr>
          <p:nvPr/>
        </p:nvPicPr>
        <p:blipFill>
          <a:blip r:embed="rId4"/>
          <a:stretch>
            <a:fillRect/>
          </a:stretch>
        </p:blipFill>
        <p:spPr>
          <a:xfrm>
            <a:off x="571500" y="3798689"/>
            <a:ext cx="285750" cy="200025"/>
          </a:xfrm>
          <a:prstGeom prst="rect">
            <a:avLst/>
          </a:prstGeom>
        </p:spPr>
      </p:pic>
      <p:sp>
        <p:nvSpPr>
          <p:cNvPr id="18" name="Text 12"/>
          <p:cNvSpPr/>
          <p:nvPr/>
        </p:nvSpPr>
        <p:spPr>
          <a:xfrm>
            <a:off x="942975" y="3798689"/>
            <a:ext cx="177165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4841"/>
                </a:solidFill>
                <a:latin typeface="Inter" pitchFamily="34" charset="0"/>
                <a:ea typeface="Inter" pitchFamily="34" charset="-122"/>
                <a:cs typeface="Inter" pitchFamily="34" charset="-120"/>
              </a:rPr>
              <a:t>DATABASE</a:t>
            </a:r>
            <a:endParaRPr lang="en-US" sz="683" dirty="0"/>
          </a:p>
        </p:txBody>
      </p:sp>
      <p:sp>
        <p:nvSpPr>
          <p:cNvPr id="19" name="Text 13"/>
          <p:cNvSpPr/>
          <p:nvPr/>
        </p:nvSpPr>
        <p:spPr>
          <a:xfrm>
            <a:off x="942975" y="3948708"/>
            <a:ext cx="1771650"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A1A1A"/>
                </a:solidFill>
                <a:latin typeface="Inter" pitchFamily="34" charset="0"/>
                <a:ea typeface="Inter" pitchFamily="34" charset="-122"/>
                <a:cs typeface="Inter" pitchFamily="34" charset="-120"/>
              </a:rPr>
              <a:t>PostgreSQL (RDBMS)</a:t>
            </a:r>
            <a:endParaRPr lang="en-US" sz="987" dirty="0"/>
          </a:p>
        </p:txBody>
      </p:sp>
      <p:sp>
        <p:nvSpPr>
          <p:cNvPr id="20" name="Text 14"/>
          <p:cNvSpPr/>
          <p:nvPr/>
        </p:nvSpPr>
        <p:spPr>
          <a:xfrm>
            <a:off x="942975" y="4179094"/>
            <a:ext cx="1771650"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Patient records, audit trails, and rule storage</a:t>
            </a:r>
            <a:endParaRPr lang="en-US" sz="834" dirty="0"/>
          </a:p>
        </p:txBody>
      </p:sp>
      <p:pic>
        <p:nvPicPr>
          <p:cNvPr id="21" name="Image 4" descr="preencoded.png">    </p:cNvPr>
          <p:cNvPicPr>
            <a:picLocks noChangeAspect="1"/>
          </p:cNvPicPr>
          <p:nvPr/>
        </p:nvPicPr>
        <p:blipFill>
          <a:blip r:embed="rId5"/>
          <a:stretch>
            <a:fillRect/>
          </a:stretch>
        </p:blipFill>
        <p:spPr>
          <a:xfrm>
            <a:off x="2886075" y="3798689"/>
            <a:ext cx="285750" cy="200025"/>
          </a:xfrm>
          <a:prstGeom prst="rect">
            <a:avLst/>
          </a:prstGeom>
        </p:spPr>
      </p:pic>
      <p:sp>
        <p:nvSpPr>
          <p:cNvPr id="22" name="Text 15"/>
          <p:cNvSpPr/>
          <p:nvPr/>
        </p:nvSpPr>
        <p:spPr>
          <a:xfrm>
            <a:off x="3257550" y="3798689"/>
            <a:ext cx="177165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4841"/>
                </a:solidFill>
                <a:latin typeface="Inter" pitchFamily="34" charset="0"/>
                <a:ea typeface="Inter" pitchFamily="34" charset="-122"/>
                <a:cs typeface="Inter" pitchFamily="34" charset="-120"/>
              </a:rPr>
              <a:t>AI AGENT</a:t>
            </a:r>
            <a:endParaRPr lang="en-US" sz="683" dirty="0"/>
          </a:p>
        </p:txBody>
      </p:sp>
      <p:sp>
        <p:nvSpPr>
          <p:cNvPr id="23" name="Text 16"/>
          <p:cNvSpPr/>
          <p:nvPr/>
        </p:nvSpPr>
        <p:spPr>
          <a:xfrm>
            <a:off x="3257550" y="3948708"/>
            <a:ext cx="1771650"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A1A1A"/>
                </a:solidFill>
                <a:latin typeface="Inter" pitchFamily="34" charset="0"/>
                <a:ea typeface="Inter" pitchFamily="34" charset="-122"/>
                <a:cs typeface="Inter" pitchFamily="34" charset="-120"/>
              </a:rPr>
              <a:t>LangChain + Streamlit</a:t>
            </a:r>
            <a:endParaRPr lang="en-US" sz="987" dirty="0"/>
          </a:p>
        </p:txBody>
      </p:sp>
      <p:sp>
        <p:nvSpPr>
          <p:cNvPr id="24" name="Text 17"/>
          <p:cNvSpPr/>
          <p:nvPr/>
        </p:nvSpPr>
        <p:spPr>
          <a:xfrm>
            <a:off x="3257550" y="4179094"/>
            <a:ext cx="1771650"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Custom Code Quality Checker for healthcare-grade compliance</a:t>
            </a:r>
            <a:endParaRPr lang="en-US" sz="834" dirty="0"/>
          </a:p>
        </p:txBody>
      </p:sp>
      <p:sp>
        <p:nvSpPr>
          <p:cNvPr id="25" name="Shape 18"/>
          <p:cNvSpPr/>
          <p:nvPr/>
        </p:nvSpPr>
        <p:spPr>
          <a:xfrm>
            <a:off x="5257800" y="2316361"/>
            <a:ext cx="3314700" cy="2786063"/>
          </a:xfrm>
          <a:prstGeom prst="rect">
            <a:avLst/>
          </a:prstGeom>
          <a:solidFill>
            <a:srgbClr val="1A1A1A"/>
          </a:solidFill>
          <a:ln/>
        </p:spPr>
      </p:sp>
      <p:sp>
        <p:nvSpPr>
          <p:cNvPr id="26" name="Text 19"/>
          <p:cNvSpPr/>
          <p:nvPr/>
        </p:nvSpPr>
        <p:spPr>
          <a:xfrm>
            <a:off x="5429250" y="2487811"/>
            <a:ext cx="2971800" cy="266105"/>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F2C94C"/>
                </a:solidFill>
                <a:latin typeface="Playfair Display" pitchFamily="34" charset="0"/>
                <a:ea typeface="Playfair Display" pitchFamily="34" charset="-122"/>
                <a:cs typeface="Playfair Display" pitchFamily="34" charset="-120"/>
              </a:rPr>
              <a:t>Key Architectural Principles</a:t>
            </a:r>
            <a:endParaRPr lang="en-US" sz="1397" dirty="0"/>
          </a:p>
        </p:txBody>
      </p:sp>
      <p:pic>
        <p:nvPicPr>
          <p:cNvPr id="27" name="Image 5" descr="preencoded.png">    </p:cNvPr>
          <p:cNvPicPr>
            <a:picLocks noChangeAspect="1"/>
          </p:cNvPicPr>
          <p:nvPr/>
        </p:nvPicPr>
        <p:blipFill>
          <a:blip r:embed="rId6"/>
          <a:stretch>
            <a:fillRect/>
          </a:stretch>
        </p:blipFill>
        <p:spPr>
          <a:xfrm>
            <a:off x="5429250" y="2911971"/>
            <a:ext cx="142875" cy="142875"/>
          </a:xfrm>
          <a:prstGeom prst="rect">
            <a:avLst/>
          </a:prstGeom>
        </p:spPr>
      </p:pic>
      <p:sp>
        <p:nvSpPr>
          <p:cNvPr id="28" name="Text 20"/>
          <p:cNvSpPr/>
          <p:nvPr/>
        </p:nvSpPr>
        <p:spPr>
          <a:xfrm>
            <a:off x="5657850" y="2896791"/>
            <a:ext cx="1637705"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AFAFA"/>
                </a:solidFill>
                <a:latin typeface="Inter" pitchFamily="34" charset="0"/>
                <a:ea typeface="Inter" pitchFamily="34" charset="-122"/>
                <a:cs typeface="Inter" pitchFamily="34" charset="-120"/>
              </a:rPr>
              <a:t>Separation of Concerns</a:t>
            </a:r>
            <a:endParaRPr lang="en-US" sz="987" dirty="0"/>
          </a:p>
        </p:txBody>
      </p:sp>
      <p:sp>
        <p:nvSpPr>
          <p:cNvPr id="29" name="Text 21"/>
          <p:cNvSpPr/>
          <p:nvPr/>
        </p:nvSpPr>
        <p:spPr>
          <a:xfrm>
            <a:off x="5429250" y="3127177"/>
            <a:ext cx="2971800" cy="342900"/>
          </a:xfrm>
          <a:prstGeom prst="rect">
            <a:avLst/>
          </a:prstGeom>
          <a:noFill/>
          <a:ln/>
        </p:spPr>
        <p:txBody>
          <a:bodyPr wrap="square" lIns="170053" tIns="0" rIns="0" bIns="0" rtlCol="0" anchor="t">
            <a:spAutoFit/>
          </a:bodyPr>
          <a:lstStyle/>
          <a:p>
            <a:pPr algn="l" indent="0" marL="0">
              <a:lnSpc>
                <a:spcPts val="1400"/>
              </a:lnSpc>
              <a:buNone/>
            </a:pPr>
            <a:r>
              <a:rPr lang="en-US" sz="834" dirty="0">
                <a:solidFill>
                  <a:srgbClr val="CCCCCC"/>
                </a:solidFill>
                <a:latin typeface="Inter" pitchFamily="34" charset="0"/>
                <a:ea typeface="Inter" pitchFamily="34" charset="-122"/>
                <a:cs typeface="Inter" pitchFamily="34" charset="-120"/>
              </a:rPr>
              <a:t>Rule Engine, Classifier, and Dashboard are independently deployable modules.</a:t>
            </a:r>
            <a:endParaRPr lang="en-US" sz="834" dirty="0"/>
          </a:p>
        </p:txBody>
      </p:sp>
      <p:pic>
        <p:nvPicPr>
          <p:cNvPr id="30" name="Image 6" descr="preencoded.png">    </p:cNvPr>
          <p:cNvPicPr>
            <a:picLocks noChangeAspect="1"/>
          </p:cNvPicPr>
          <p:nvPr/>
        </p:nvPicPr>
        <p:blipFill>
          <a:blip r:embed="rId7"/>
          <a:stretch>
            <a:fillRect/>
          </a:stretch>
        </p:blipFill>
        <p:spPr>
          <a:xfrm>
            <a:off x="5429250" y="3628132"/>
            <a:ext cx="142875" cy="142875"/>
          </a:xfrm>
          <a:prstGeom prst="rect">
            <a:avLst/>
          </a:prstGeom>
        </p:spPr>
      </p:pic>
      <p:sp>
        <p:nvSpPr>
          <p:cNvPr id="31" name="Text 22"/>
          <p:cNvSpPr/>
          <p:nvPr/>
        </p:nvSpPr>
        <p:spPr>
          <a:xfrm>
            <a:off x="5657850" y="3612952"/>
            <a:ext cx="1425178"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AFAFA"/>
                </a:solidFill>
                <a:latin typeface="Inter" pitchFamily="34" charset="0"/>
                <a:ea typeface="Inter" pitchFamily="34" charset="-122"/>
                <a:cs typeface="Inter" pitchFamily="34" charset="-120"/>
              </a:rPr>
              <a:t>Audit Trail by Design</a:t>
            </a:r>
            <a:endParaRPr lang="en-US" sz="987" dirty="0"/>
          </a:p>
        </p:txBody>
      </p:sp>
      <p:sp>
        <p:nvSpPr>
          <p:cNvPr id="32" name="Text 23"/>
          <p:cNvSpPr/>
          <p:nvPr/>
        </p:nvSpPr>
        <p:spPr>
          <a:xfrm>
            <a:off x="5429250" y="3843338"/>
            <a:ext cx="2971800" cy="342900"/>
          </a:xfrm>
          <a:prstGeom prst="rect">
            <a:avLst/>
          </a:prstGeom>
          <a:noFill/>
          <a:ln/>
        </p:spPr>
        <p:txBody>
          <a:bodyPr wrap="square" lIns="170053" tIns="0" rIns="0" bIns="0" rtlCol="0" anchor="t">
            <a:spAutoFit/>
          </a:bodyPr>
          <a:lstStyle/>
          <a:p>
            <a:pPr algn="l" indent="0" marL="0">
              <a:lnSpc>
                <a:spcPts val="1400"/>
              </a:lnSpc>
              <a:buNone/>
            </a:pPr>
            <a:r>
              <a:rPr lang="en-US" sz="834" dirty="0">
                <a:solidFill>
                  <a:srgbClr val="CCCCCC"/>
                </a:solidFill>
                <a:latin typeface="Inter" pitchFamily="34" charset="0"/>
                <a:ea typeface="Inter" pitchFamily="34" charset="-122"/>
                <a:cs typeface="Inter" pitchFamily="34" charset="-120"/>
              </a:rPr>
              <a:t>Every classification event is logged with timestamp, rule applied, and operator ID.</a:t>
            </a:r>
            <a:endParaRPr lang="en-US" sz="834" dirty="0"/>
          </a:p>
        </p:txBody>
      </p:sp>
      <p:pic>
        <p:nvPicPr>
          <p:cNvPr id="33" name="Image 7" descr="preencoded.png">    </p:cNvPr>
          <p:cNvPicPr>
            <a:picLocks noChangeAspect="1"/>
          </p:cNvPicPr>
          <p:nvPr/>
        </p:nvPicPr>
        <p:blipFill>
          <a:blip r:embed="rId8"/>
          <a:stretch>
            <a:fillRect/>
          </a:stretch>
        </p:blipFill>
        <p:spPr>
          <a:xfrm>
            <a:off x="5429250" y="4344293"/>
            <a:ext cx="142875" cy="142875"/>
          </a:xfrm>
          <a:prstGeom prst="rect">
            <a:avLst/>
          </a:prstGeom>
        </p:spPr>
      </p:pic>
      <p:sp>
        <p:nvSpPr>
          <p:cNvPr id="34" name="Text 24"/>
          <p:cNvSpPr/>
          <p:nvPr/>
        </p:nvSpPr>
        <p:spPr>
          <a:xfrm>
            <a:off x="5657850" y="4329113"/>
            <a:ext cx="950119"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AFAFA"/>
                </a:solidFill>
                <a:latin typeface="Inter" pitchFamily="34" charset="0"/>
                <a:ea typeface="Inter" pitchFamily="34" charset="-122"/>
                <a:cs typeface="Inter" pitchFamily="34" charset="-120"/>
              </a:rPr>
              <a:t>Security-First</a:t>
            </a:r>
            <a:endParaRPr lang="en-US" sz="987" dirty="0"/>
          </a:p>
        </p:txBody>
      </p:sp>
      <p:sp>
        <p:nvSpPr>
          <p:cNvPr id="35" name="Text 25"/>
          <p:cNvSpPr/>
          <p:nvPr/>
        </p:nvSpPr>
        <p:spPr>
          <a:xfrm>
            <a:off x="5429250" y="4559498"/>
            <a:ext cx="2971800" cy="342900"/>
          </a:xfrm>
          <a:prstGeom prst="rect">
            <a:avLst/>
          </a:prstGeom>
          <a:noFill/>
          <a:ln/>
        </p:spPr>
        <p:txBody>
          <a:bodyPr wrap="square" lIns="170053" tIns="0" rIns="0" bIns="0" rtlCol="0" anchor="t">
            <a:spAutoFit/>
          </a:bodyPr>
          <a:lstStyle/>
          <a:p>
            <a:pPr algn="l" indent="0" marL="0">
              <a:lnSpc>
                <a:spcPts val="1400"/>
              </a:lnSpc>
              <a:buNone/>
            </a:pPr>
            <a:r>
              <a:rPr lang="en-US" sz="834" dirty="0">
                <a:solidFill>
                  <a:srgbClr val="CCCCCC"/>
                </a:solidFill>
                <a:latin typeface="Inter" pitchFamily="34" charset="0"/>
                <a:ea typeface="Inter" pitchFamily="34" charset="-122"/>
                <a:cs typeface="Inter" pitchFamily="34" charset="-120"/>
              </a:rPr>
              <a:t>Role-based access control (RBAC) separates Admin and Manager permissions.</a:t>
            </a:r>
            <a:endParaRPr lang="en-US" sz="83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57200"/>
            <a:ext cx="8001000" cy="137517"/>
          </a:xfrm>
          <a:prstGeom prst="rect">
            <a:avLst/>
          </a:prstGeom>
          <a:noFill/>
          <a:ln/>
        </p:spPr>
        <p:txBody>
          <a:bodyPr wrap="none" lIns="0" tIns="0" rIns="0" bIns="0" rtlCol="0" anchor="t">
            <a:spAutoFit/>
          </a:bodyPr>
          <a:lstStyle/>
          <a:p>
            <a:pPr algn="l" indent="0" marL="0">
              <a:lnSpc>
                <a:spcPts val="1100"/>
              </a:lnSpc>
              <a:buNone/>
            </a:pPr>
            <a:r>
              <a:rPr lang="en-US" sz="784" b="1" spc="2" kern="0" dirty="0">
                <a:solidFill>
                  <a:srgbClr val="D94841"/>
                </a:solidFill>
                <a:latin typeface="Inter" pitchFamily="34" charset="0"/>
                <a:ea typeface="Inter" pitchFamily="34" charset="-122"/>
                <a:cs typeface="Inter" pitchFamily="34" charset="-120"/>
              </a:rPr>
              <a:t>AI-AUGMENTED DEVELOPMENT</a:t>
            </a:r>
            <a:endParaRPr lang="en-US" sz="784" dirty="0"/>
          </a:p>
        </p:txBody>
      </p:sp>
      <p:sp>
        <p:nvSpPr>
          <p:cNvPr id="4" name="Text 1"/>
          <p:cNvSpPr/>
          <p:nvPr/>
        </p:nvSpPr>
        <p:spPr>
          <a:xfrm>
            <a:off x="571500" y="680442"/>
            <a:ext cx="8001000" cy="45720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AI Agent Integration</a:t>
            </a:r>
            <a:endParaRPr lang="en-US" sz="2436" dirty="0"/>
          </a:p>
        </p:txBody>
      </p:sp>
      <p:sp>
        <p:nvSpPr>
          <p:cNvPr id="5" name="Shape 2"/>
          <p:cNvSpPr/>
          <p:nvPr/>
        </p:nvSpPr>
        <p:spPr>
          <a:xfrm>
            <a:off x="571500" y="1366242"/>
            <a:ext cx="571500" cy="28575"/>
          </a:xfrm>
          <a:prstGeom prst="rect">
            <a:avLst/>
          </a:prstGeom>
          <a:solidFill>
            <a:srgbClr val="F2C94C"/>
          </a:solidFill>
          <a:ln/>
        </p:spPr>
      </p:sp>
      <p:sp>
        <p:nvSpPr>
          <p:cNvPr id="6" name="Text 3"/>
          <p:cNvSpPr/>
          <p:nvPr/>
        </p:nvSpPr>
        <p:spPr>
          <a:xfrm>
            <a:off x="571500" y="1537692"/>
            <a:ext cx="7143750" cy="4572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595959"/>
                </a:solidFill>
                <a:latin typeface="Inter" pitchFamily="34" charset="0"/>
                <a:ea typeface="Inter" pitchFamily="34" charset="-122"/>
                <a:cs typeface="Inter" pitchFamily="34" charset="-120"/>
              </a:rPr>
              <a:t>To meet production-level quality requirements within a compressed timeline, VitalTriage AI employs a </a:t>
            </a:r>
            <a:pPr algn="l" indent="0" marL="0">
              <a:lnSpc>
                <a:spcPts val="1800"/>
              </a:lnSpc>
              <a:buNone/>
            </a:pPr>
            <a:r>
              <a:rPr lang="en-US" sz="987" b="1" dirty="0">
                <a:solidFill>
                  <a:srgbClr val="595959"/>
                </a:solidFill>
                <a:latin typeface="Inter" pitchFamily="34" charset="0"/>
                <a:ea typeface="Inter" pitchFamily="34" charset="-122"/>
                <a:cs typeface="Inter" pitchFamily="34" charset="-120"/>
              </a:rPr>
              <a:t>Multi-Agent AI Orchestration</a:t>
            </a:r>
            <a:pPr algn="l" indent="0" marL="0">
              <a:lnSpc>
                <a:spcPts val="1800"/>
              </a:lnSpc>
              <a:buNone/>
            </a:pPr>
            <a:r>
              <a:rPr lang="en-US" sz="1050" dirty="0">
                <a:solidFill>
                  <a:srgbClr val="595959"/>
                </a:solidFill>
                <a:latin typeface="Inter" pitchFamily="34" charset="0"/>
                <a:ea typeface="Inter" pitchFamily="34" charset="-122"/>
                <a:cs typeface="Inter" pitchFamily="34" charset="-120"/>
              </a:rPr>
              <a:t> approach across every phase of the delivery workflow.</a:t>
            </a:r>
            <a:endParaRPr lang="en-US" sz="1050" dirty="0"/>
          </a:p>
        </p:txBody>
      </p:sp>
      <p:sp>
        <p:nvSpPr>
          <p:cNvPr id="7" name="Text 4"/>
          <p:cNvSpPr/>
          <p:nvPr/>
        </p:nvSpPr>
        <p:spPr>
          <a:xfrm>
            <a:off x="571500" y="2223492"/>
            <a:ext cx="874384" cy="369689"/>
          </a:xfrm>
          <a:prstGeom prst="rect">
            <a:avLst/>
          </a:prstGeom>
          <a:noFill/>
          <a:ln/>
        </p:spPr>
        <p:txBody>
          <a:bodyPr wrap="square" lIns="0" tIns="102108" rIns="0" bIns="102108" rtlCol="0" anchor="ctr">
            <a:spAutoFit/>
          </a:bodyPr>
          <a:lstStyle/>
          <a:p>
            <a:pPr algn="l" indent="0" marL="0">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Phase</a:t>
            </a:r>
            <a:endParaRPr lang="en-US" sz="987" dirty="0"/>
          </a:p>
        </p:txBody>
      </p:sp>
      <p:sp>
        <p:nvSpPr>
          <p:cNvPr id="8" name="Text 5"/>
          <p:cNvSpPr/>
          <p:nvPr/>
        </p:nvSpPr>
        <p:spPr>
          <a:xfrm>
            <a:off x="1445884" y="2223492"/>
            <a:ext cx="1311576" cy="369689"/>
          </a:xfrm>
          <a:prstGeom prst="rect">
            <a:avLst/>
          </a:prstGeom>
          <a:noFill/>
          <a:ln/>
        </p:spPr>
        <p:txBody>
          <a:bodyPr wrap="square" lIns="0" tIns="102108" rIns="0" bIns="102108" rtlCol="0" anchor="ctr">
            <a:spAutoFit/>
          </a:bodyPr>
          <a:lstStyle/>
          <a:p>
            <a:pPr algn="l" indent="0" marL="0">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AI Tool / Agent</a:t>
            </a:r>
            <a:endParaRPr lang="en-US" sz="987" dirty="0"/>
          </a:p>
        </p:txBody>
      </p:sp>
      <p:sp>
        <p:nvSpPr>
          <p:cNvPr id="9" name="Text 6"/>
          <p:cNvSpPr/>
          <p:nvPr/>
        </p:nvSpPr>
        <p:spPr>
          <a:xfrm>
            <a:off x="2757460" y="2223492"/>
            <a:ext cx="2186015" cy="369689"/>
          </a:xfrm>
          <a:prstGeom prst="rect">
            <a:avLst/>
          </a:prstGeom>
          <a:noFill/>
          <a:ln/>
        </p:spPr>
        <p:txBody>
          <a:bodyPr wrap="square" lIns="0" tIns="102108" rIns="0" bIns="102108" rtlCol="0" anchor="ctr">
            <a:spAutoFit/>
          </a:bodyPr>
          <a:lstStyle/>
          <a:p>
            <a:pPr algn="l" indent="0" marL="0">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Usage</a:t>
            </a:r>
            <a:endParaRPr lang="en-US" sz="987" dirty="0"/>
          </a:p>
        </p:txBody>
      </p:sp>
      <p:sp>
        <p:nvSpPr>
          <p:cNvPr id="10" name="Text 7"/>
          <p:cNvSpPr/>
          <p:nvPr/>
        </p:nvSpPr>
        <p:spPr>
          <a:xfrm>
            <a:off x="571500" y="2593181"/>
            <a:ext cx="874384" cy="525066"/>
          </a:xfrm>
          <a:prstGeom prst="rect">
            <a:avLst/>
          </a:prstGeom>
          <a:noFill/>
          <a:ln/>
        </p:spPr>
        <p:txBody>
          <a:bodyPr wrap="square" lIns="0" tIns="102108" rIns="0" bIns="102108" rtlCol="0" anchor="t">
            <a:spAutoFit/>
          </a:bodyPr>
          <a:lstStyle/>
          <a:p>
            <a:pPr algn="l" indent="0" marL="0">
              <a:lnSpc>
                <a:spcPts val="1400"/>
              </a:lnSpc>
              <a:buNone/>
            </a:pPr>
            <a:r>
              <a:rPr lang="en-US" sz="784" b="1" dirty="0">
                <a:solidFill>
                  <a:srgbClr val="D94841"/>
                </a:solidFill>
                <a:latin typeface="Inter" pitchFamily="34" charset="0"/>
                <a:ea typeface="Inter" pitchFamily="34" charset="-122"/>
                <a:cs typeface="Inter" pitchFamily="34" charset="-120"/>
              </a:rPr>
              <a:t>Requirements</a:t>
            </a:r>
            <a:endParaRPr lang="en-US" sz="784" dirty="0"/>
          </a:p>
        </p:txBody>
      </p:sp>
      <p:sp>
        <p:nvSpPr>
          <p:cNvPr id="11" name="Text 8"/>
          <p:cNvSpPr/>
          <p:nvPr/>
        </p:nvSpPr>
        <p:spPr>
          <a:xfrm>
            <a:off x="1445884" y="2593181"/>
            <a:ext cx="1311576" cy="525066"/>
          </a:xfrm>
          <a:prstGeom prst="rect">
            <a:avLst/>
          </a:prstGeom>
          <a:noFill/>
          <a:ln/>
        </p:spPr>
        <p:txBody>
          <a:bodyPr wrap="square" lIns="0" tIns="102108" rIns="0" bIns="102108" rtlCol="0" anchor="t">
            <a:spAutoFit/>
          </a:bodyPr>
          <a:lstStyle/>
          <a:p>
            <a:pPr algn="l" indent="0" marL="0">
              <a:lnSpc>
                <a:spcPts val="1400"/>
              </a:lnSpc>
              <a:buNone/>
            </a:pPr>
            <a:r>
              <a:rPr lang="en-US" sz="784" b="1" dirty="0">
                <a:solidFill>
                  <a:srgbClr val="1A1A1A"/>
                </a:solidFill>
                <a:latin typeface="Inter" pitchFamily="34" charset="0"/>
                <a:ea typeface="Inter" pitchFamily="34" charset="-122"/>
                <a:cs typeface="Inter" pitchFamily="34" charset="-120"/>
              </a:rPr>
              <a:t>Prompt Engineering Agent</a:t>
            </a:r>
            <a:endParaRPr lang="en-US" sz="784" dirty="0"/>
          </a:p>
        </p:txBody>
      </p:sp>
      <p:sp>
        <p:nvSpPr>
          <p:cNvPr id="12" name="Text 9"/>
          <p:cNvSpPr/>
          <p:nvPr/>
        </p:nvSpPr>
        <p:spPr>
          <a:xfrm>
            <a:off x="2757460" y="2593181"/>
            <a:ext cx="2186015" cy="525066"/>
          </a:xfrm>
          <a:prstGeom prst="rect">
            <a:avLst/>
          </a:prstGeom>
          <a:noFill/>
          <a:ln/>
        </p:spPr>
        <p:txBody>
          <a:bodyPr wrap="square" lIns="0" tIns="102108" rIns="0" bIns="102108"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Generates the Traceability Matrix from User Stories</a:t>
            </a:r>
            <a:endParaRPr lang="en-US" sz="834" dirty="0"/>
          </a:p>
        </p:txBody>
      </p:sp>
      <p:sp>
        <p:nvSpPr>
          <p:cNvPr id="13" name="Text 10"/>
          <p:cNvSpPr/>
          <p:nvPr/>
        </p:nvSpPr>
        <p:spPr>
          <a:xfrm>
            <a:off x="571500" y="3118247"/>
            <a:ext cx="874384" cy="521494"/>
          </a:xfrm>
          <a:prstGeom prst="rect">
            <a:avLst/>
          </a:prstGeom>
          <a:noFill/>
          <a:ln/>
        </p:spPr>
        <p:txBody>
          <a:bodyPr wrap="square" lIns="0" tIns="102108" rIns="0" bIns="102108" rtlCol="0" anchor="t">
            <a:spAutoFit/>
          </a:bodyPr>
          <a:lstStyle/>
          <a:p>
            <a:pPr algn="l" indent="0" marL="0">
              <a:lnSpc>
                <a:spcPts val="1400"/>
              </a:lnSpc>
              <a:buNone/>
            </a:pPr>
            <a:r>
              <a:rPr lang="en-US" sz="784" b="1" dirty="0">
                <a:solidFill>
                  <a:srgbClr val="D94841"/>
                </a:solidFill>
                <a:latin typeface="Inter" pitchFamily="34" charset="0"/>
                <a:ea typeface="Inter" pitchFamily="34" charset="-122"/>
                <a:cs typeface="Inter" pitchFamily="34" charset="-120"/>
              </a:rPr>
              <a:t>Design</a:t>
            </a:r>
            <a:endParaRPr lang="en-US" sz="784" dirty="0"/>
          </a:p>
        </p:txBody>
      </p:sp>
      <p:sp>
        <p:nvSpPr>
          <p:cNvPr id="14" name="Text 11"/>
          <p:cNvSpPr/>
          <p:nvPr/>
        </p:nvSpPr>
        <p:spPr>
          <a:xfrm>
            <a:off x="1445884" y="3118247"/>
            <a:ext cx="1311576" cy="521494"/>
          </a:xfrm>
          <a:prstGeom prst="rect">
            <a:avLst/>
          </a:prstGeom>
          <a:noFill/>
          <a:ln/>
        </p:spPr>
        <p:txBody>
          <a:bodyPr wrap="square" lIns="0" tIns="102108" rIns="0" bIns="102108" rtlCol="0" anchor="t">
            <a:spAutoFit/>
          </a:bodyPr>
          <a:lstStyle/>
          <a:p>
            <a:pPr algn="l" indent="0" marL="0">
              <a:lnSpc>
                <a:spcPts val="1400"/>
              </a:lnSpc>
              <a:buNone/>
            </a:pPr>
            <a:r>
              <a:rPr lang="en-US" sz="784" b="1" dirty="0">
                <a:solidFill>
                  <a:srgbClr val="1A1A1A"/>
                </a:solidFill>
                <a:latin typeface="Inter" pitchFamily="34" charset="0"/>
                <a:ea typeface="Inter" pitchFamily="34" charset="-122"/>
                <a:cs typeface="Inter" pitchFamily="34" charset="-120"/>
              </a:rPr>
              <a:t>D2 / Mermaid.js via AI</a:t>
            </a:r>
            <a:endParaRPr lang="en-US" sz="784" dirty="0"/>
          </a:p>
        </p:txBody>
      </p:sp>
      <p:sp>
        <p:nvSpPr>
          <p:cNvPr id="15" name="Text 12"/>
          <p:cNvSpPr/>
          <p:nvPr/>
        </p:nvSpPr>
        <p:spPr>
          <a:xfrm>
            <a:off x="2757460" y="3118247"/>
            <a:ext cx="2186015" cy="521494"/>
          </a:xfrm>
          <a:prstGeom prst="rect">
            <a:avLst/>
          </a:prstGeom>
          <a:noFill/>
          <a:ln/>
        </p:spPr>
        <p:txBody>
          <a:bodyPr wrap="square" lIns="0" tIns="102108" rIns="0" bIns="102108"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Auto-generates ER Diagrams and System Architecture diagrams</a:t>
            </a:r>
            <a:endParaRPr lang="en-US" sz="834" dirty="0"/>
          </a:p>
        </p:txBody>
      </p:sp>
      <p:sp>
        <p:nvSpPr>
          <p:cNvPr id="16" name="Text 13"/>
          <p:cNvSpPr/>
          <p:nvPr/>
        </p:nvSpPr>
        <p:spPr>
          <a:xfrm>
            <a:off x="571500" y="3639741"/>
            <a:ext cx="874384" cy="521494"/>
          </a:xfrm>
          <a:prstGeom prst="rect">
            <a:avLst/>
          </a:prstGeom>
          <a:noFill/>
          <a:ln/>
        </p:spPr>
        <p:txBody>
          <a:bodyPr wrap="square" lIns="0" tIns="102108" rIns="0" bIns="102108" rtlCol="0" anchor="t">
            <a:spAutoFit/>
          </a:bodyPr>
          <a:lstStyle/>
          <a:p>
            <a:pPr algn="l" indent="0" marL="0">
              <a:lnSpc>
                <a:spcPts val="1400"/>
              </a:lnSpc>
              <a:buNone/>
            </a:pPr>
            <a:r>
              <a:rPr lang="en-US" sz="784" b="1" dirty="0">
                <a:solidFill>
                  <a:srgbClr val="D94841"/>
                </a:solidFill>
                <a:latin typeface="Inter" pitchFamily="34" charset="0"/>
                <a:ea typeface="Inter" pitchFamily="34" charset="-122"/>
                <a:cs typeface="Inter" pitchFamily="34" charset="-120"/>
              </a:rPr>
              <a:t>Coding</a:t>
            </a:r>
            <a:endParaRPr lang="en-US" sz="784" dirty="0"/>
          </a:p>
        </p:txBody>
      </p:sp>
      <p:sp>
        <p:nvSpPr>
          <p:cNvPr id="17" name="Text 14"/>
          <p:cNvSpPr/>
          <p:nvPr/>
        </p:nvSpPr>
        <p:spPr>
          <a:xfrm>
            <a:off x="1445884" y="3639741"/>
            <a:ext cx="1311576" cy="521494"/>
          </a:xfrm>
          <a:prstGeom prst="rect">
            <a:avLst/>
          </a:prstGeom>
          <a:noFill/>
          <a:ln/>
        </p:spPr>
        <p:txBody>
          <a:bodyPr wrap="square" lIns="0" tIns="102108" rIns="0" bIns="102108" rtlCol="0" anchor="t">
            <a:spAutoFit/>
          </a:bodyPr>
          <a:lstStyle/>
          <a:p>
            <a:pPr algn="l" indent="0" marL="0">
              <a:lnSpc>
                <a:spcPts val="1400"/>
              </a:lnSpc>
              <a:buNone/>
            </a:pPr>
            <a:r>
              <a:rPr lang="en-US" sz="784" b="1" dirty="0">
                <a:solidFill>
                  <a:srgbClr val="1A1A1A"/>
                </a:solidFill>
                <a:latin typeface="Inter" pitchFamily="34" charset="0"/>
                <a:ea typeface="Inter" pitchFamily="34" charset="-122"/>
                <a:cs typeface="Inter" pitchFamily="34" charset="-120"/>
              </a:rPr>
              <a:t>GitHub Copilot / Cursor</a:t>
            </a:r>
            <a:endParaRPr lang="en-US" sz="784" dirty="0"/>
          </a:p>
        </p:txBody>
      </p:sp>
      <p:sp>
        <p:nvSpPr>
          <p:cNvPr id="18" name="Text 15"/>
          <p:cNvSpPr/>
          <p:nvPr/>
        </p:nvSpPr>
        <p:spPr>
          <a:xfrm>
            <a:off x="2757460" y="3639741"/>
            <a:ext cx="2186015" cy="521494"/>
          </a:xfrm>
          <a:prstGeom prst="rect">
            <a:avLst/>
          </a:prstGeom>
          <a:noFill/>
          <a:ln/>
        </p:spPr>
        <p:txBody>
          <a:bodyPr wrap="square" lIns="0" tIns="102108" rIns="0" bIns="102108"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Accelerates core Rule Engine logic development</a:t>
            </a:r>
            <a:endParaRPr lang="en-US" sz="834" dirty="0"/>
          </a:p>
        </p:txBody>
      </p:sp>
      <p:sp>
        <p:nvSpPr>
          <p:cNvPr id="19" name="Text 16"/>
          <p:cNvSpPr/>
          <p:nvPr/>
        </p:nvSpPr>
        <p:spPr>
          <a:xfrm>
            <a:off x="571500" y="4161234"/>
            <a:ext cx="874384" cy="521494"/>
          </a:xfrm>
          <a:prstGeom prst="rect">
            <a:avLst/>
          </a:prstGeom>
          <a:noFill/>
          <a:ln/>
        </p:spPr>
        <p:txBody>
          <a:bodyPr wrap="square" lIns="0" tIns="102108" rIns="0" bIns="102108" rtlCol="0" anchor="t">
            <a:spAutoFit/>
          </a:bodyPr>
          <a:lstStyle/>
          <a:p>
            <a:pPr algn="l" indent="0" marL="0">
              <a:lnSpc>
                <a:spcPts val="1400"/>
              </a:lnSpc>
              <a:buNone/>
            </a:pPr>
            <a:r>
              <a:rPr lang="en-US" sz="784" b="1" dirty="0">
                <a:solidFill>
                  <a:srgbClr val="D94841"/>
                </a:solidFill>
                <a:latin typeface="Inter" pitchFamily="34" charset="0"/>
                <a:ea typeface="Inter" pitchFamily="34" charset="-122"/>
                <a:cs typeface="Inter" pitchFamily="34" charset="-120"/>
              </a:rPr>
              <a:t>Quality</a:t>
            </a:r>
            <a:endParaRPr lang="en-US" sz="784" dirty="0"/>
          </a:p>
        </p:txBody>
      </p:sp>
      <p:sp>
        <p:nvSpPr>
          <p:cNvPr id="20" name="Text 17"/>
          <p:cNvSpPr/>
          <p:nvPr/>
        </p:nvSpPr>
        <p:spPr>
          <a:xfrm>
            <a:off x="1445884" y="4161234"/>
            <a:ext cx="1311576" cy="521494"/>
          </a:xfrm>
          <a:prstGeom prst="rect">
            <a:avLst/>
          </a:prstGeom>
          <a:noFill/>
          <a:ln/>
        </p:spPr>
        <p:txBody>
          <a:bodyPr wrap="square" lIns="0" tIns="102108" rIns="0" bIns="102108" rtlCol="0" anchor="t">
            <a:spAutoFit/>
          </a:bodyPr>
          <a:lstStyle/>
          <a:p>
            <a:pPr algn="l" indent="0" marL="0">
              <a:lnSpc>
                <a:spcPts val="1400"/>
              </a:lnSpc>
              <a:buNone/>
            </a:pPr>
            <a:r>
              <a:rPr lang="en-US" sz="784" b="1" dirty="0">
                <a:solidFill>
                  <a:srgbClr val="1A1A1A"/>
                </a:solidFill>
                <a:latin typeface="Inter" pitchFamily="34" charset="0"/>
                <a:ea typeface="Inter" pitchFamily="34" charset="-122"/>
                <a:cs typeface="Inter" pitchFamily="34" charset="-120"/>
              </a:rPr>
              <a:t>Custom AI Code Reviewer</a:t>
            </a:r>
            <a:endParaRPr lang="en-US" sz="784" dirty="0"/>
          </a:p>
        </p:txBody>
      </p:sp>
      <p:sp>
        <p:nvSpPr>
          <p:cNvPr id="21" name="Text 18"/>
          <p:cNvSpPr/>
          <p:nvPr/>
        </p:nvSpPr>
        <p:spPr>
          <a:xfrm>
            <a:off x="2757460" y="4161234"/>
            <a:ext cx="2186015" cy="521494"/>
          </a:xfrm>
          <a:prstGeom prst="rect">
            <a:avLst/>
          </a:prstGeom>
          <a:noFill/>
          <a:ln/>
        </p:spPr>
        <p:txBody>
          <a:bodyPr wrap="square" lIns="0" tIns="102108" rIns="0" bIns="102108"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Enforces PEP8 compliance and healthcare security standards</a:t>
            </a:r>
            <a:endParaRPr lang="en-US" sz="834" dirty="0"/>
          </a:p>
        </p:txBody>
      </p:sp>
      <p:sp>
        <p:nvSpPr>
          <p:cNvPr id="22" name="Shape 19"/>
          <p:cNvSpPr/>
          <p:nvPr/>
        </p:nvSpPr>
        <p:spPr>
          <a:xfrm>
            <a:off x="5372100" y="2223492"/>
            <a:ext cx="3200400" cy="2920008"/>
          </a:xfrm>
          <a:prstGeom prst="rect">
            <a:avLst/>
          </a:prstGeom>
          <a:solidFill>
            <a:srgbClr val="1A1A1A"/>
          </a:solidFill>
          <a:ln/>
        </p:spPr>
      </p:sp>
      <p:pic>
        <p:nvPicPr>
          <p:cNvPr id="23" name="Image 1" descr="preencoded.png">    </p:cNvPr>
          <p:cNvPicPr>
            <a:picLocks noChangeAspect="1"/>
          </p:cNvPicPr>
          <p:nvPr/>
        </p:nvPicPr>
        <p:blipFill>
          <a:blip r:embed="rId2"/>
          <a:stretch>
            <a:fillRect/>
          </a:stretch>
        </p:blipFill>
        <p:spPr>
          <a:xfrm>
            <a:off x="5514975" y="2366367"/>
            <a:ext cx="2914650" cy="342900"/>
          </a:xfrm>
          <a:prstGeom prst="rect">
            <a:avLst/>
          </a:prstGeom>
        </p:spPr>
      </p:pic>
      <p:sp>
        <p:nvSpPr>
          <p:cNvPr id="24" name="Text 20"/>
          <p:cNvSpPr/>
          <p:nvPr/>
        </p:nvSpPr>
        <p:spPr>
          <a:xfrm>
            <a:off x="5514975" y="2794992"/>
            <a:ext cx="2914650" cy="520043"/>
          </a:xfrm>
          <a:prstGeom prst="rect">
            <a:avLst/>
          </a:prstGeom>
          <a:noFill/>
          <a:ln/>
        </p:spPr>
        <p:txBody>
          <a:bodyPr wrap="square" lIns="0" tIns="0" rIns="0" bIns="0" rtlCol="0" anchor="t">
            <a:spAutoFit/>
          </a:bodyPr>
          <a:lstStyle/>
          <a:p>
            <a:pPr algn="l" indent="0" marL="0">
              <a:lnSpc>
                <a:spcPts val="2000"/>
              </a:lnSpc>
              <a:buNone/>
            </a:pPr>
            <a:r>
              <a:rPr lang="en-US" sz="1397" b="1" dirty="0">
                <a:solidFill>
                  <a:srgbClr val="F2C94C"/>
                </a:solidFill>
                <a:latin typeface="Playfair Display" pitchFamily="34" charset="0"/>
                <a:ea typeface="Playfair Display" pitchFamily="34" charset="-122"/>
                <a:cs typeface="Playfair Display" pitchFamily="34" charset="-120"/>
              </a:rPr>
              <a:t>Custom AI Code Reviewer (LangChain)</a:t>
            </a:r>
            <a:endParaRPr lang="en-US" sz="1397" dirty="0"/>
          </a:p>
        </p:txBody>
      </p:sp>
      <p:pic>
        <p:nvPicPr>
          <p:cNvPr id="25" name="Image 2" descr="preencoded.png">    </p:cNvPr>
          <p:cNvPicPr>
            <a:picLocks noChangeAspect="1"/>
          </p:cNvPicPr>
          <p:nvPr/>
        </p:nvPicPr>
        <p:blipFill>
          <a:blip r:embed="rId3"/>
          <a:stretch>
            <a:fillRect/>
          </a:stretch>
        </p:blipFill>
        <p:spPr>
          <a:xfrm>
            <a:off x="5514975" y="3472197"/>
            <a:ext cx="128588" cy="128588"/>
          </a:xfrm>
          <a:prstGeom prst="rect">
            <a:avLst/>
          </a:prstGeom>
        </p:spPr>
      </p:pic>
      <p:sp>
        <p:nvSpPr>
          <p:cNvPr id="26" name="Text 21"/>
          <p:cNvSpPr/>
          <p:nvPr/>
        </p:nvSpPr>
        <p:spPr>
          <a:xfrm>
            <a:off x="5729288" y="3443622"/>
            <a:ext cx="2700338"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FAFAFA"/>
                </a:solidFill>
                <a:latin typeface="Inter" pitchFamily="34" charset="0"/>
                <a:ea typeface="Inter" pitchFamily="34" charset="-122"/>
                <a:cs typeface="Inter" pitchFamily="34" charset="-120"/>
              </a:rPr>
              <a:t>Ingests Python/JavaScript source code directly from the repository</a:t>
            </a:r>
            <a:endParaRPr lang="en-US" sz="834" dirty="0"/>
          </a:p>
        </p:txBody>
      </p:sp>
      <p:pic>
        <p:nvPicPr>
          <p:cNvPr id="27" name="Image 3" descr="preencoded.png">    </p:cNvPr>
          <p:cNvPicPr>
            <a:picLocks noChangeAspect="1"/>
          </p:cNvPicPr>
          <p:nvPr/>
        </p:nvPicPr>
        <p:blipFill>
          <a:blip r:embed="rId4"/>
          <a:stretch>
            <a:fillRect/>
          </a:stretch>
        </p:blipFill>
        <p:spPr>
          <a:xfrm>
            <a:off x="5514975" y="3900822"/>
            <a:ext cx="128588" cy="128588"/>
          </a:xfrm>
          <a:prstGeom prst="rect">
            <a:avLst/>
          </a:prstGeom>
        </p:spPr>
      </p:pic>
      <p:sp>
        <p:nvSpPr>
          <p:cNvPr id="28" name="Text 22"/>
          <p:cNvSpPr/>
          <p:nvPr/>
        </p:nvSpPr>
        <p:spPr>
          <a:xfrm>
            <a:off x="5729288" y="3872247"/>
            <a:ext cx="2700338"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FAFAFA"/>
                </a:solidFill>
                <a:latin typeface="Inter" pitchFamily="34" charset="0"/>
                <a:ea typeface="Inter" pitchFamily="34" charset="-122"/>
                <a:cs typeface="Inter" pitchFamily="34" charset="-120"/>
              </a:rPr>
              <a:t>Cross-references against a strict PEP8 + Healthcare Compliance checklist</a:t>
            </a:r>
            <a:endParaRPr lang="en-US" sz="834" dirty="0"/>
          </a:p>
        </p:txBody>
      </p:sp>
      <p:pic>
        <p:nvPicPr>
          <p:cNvPr id="29" name="Image 4" descr="preencoded.png">    </p:cNvPr>
          <p:cNvPicPr>
            <a:picLocks noChangeAspect="1"/>
          </p:cNvPicPr>
          <p:nvPr/>
        </p:nvPicPr>
        <p:blipFill>
          <a:blip r:embed="rId5"/>
          <a:stretch>
            <a:fillRect/>
          </a:stretch>
        </p:blipFill>
        <p:spPr>
          <a:xfrm>
            <a:off x="5514975" y="4329447"/>
            <a:ext cx="96441" cy="128588"/>
          </a:xfrm>
          <a:prstGeom prst="rect">
            <a:avLst/>
          </a:prstGeom>
        </p:spPr>
      </p:pic>
      <p:sp>
        <p:nvSpPr>
          <p:cNvPr id="30" name="Text 23"/>
          <p:cNvSpPr/>
          <p:nvPr/>
        </p:nvSpPr>
        <p:spPr>
          <a:xfrm>
            <a:off x="5697141" y="4300872"/>
            <a:ext cx="2732484"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FAFAFA"/>
                </a:solidFill>
                <a:latin typeface="Inter" pitchFamily="34" charset="0"/>
                <a:ea typeface="Inter" pitchFamily="34" charset="-122"/>
                <a:cs typeface="Inter" pitchFamily="34" charset="-120"/>
              </a:rPr>
              <a:t>Provides instant, actionable feedback before deployment to ensure production readiness</a:t>
            </a:r>
            <a:endParaRPr lang="en-US" sz="83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57200"/>
            <a:ext cx="2968228" cy="45720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Logical Data Model</a:t>
            </a:r>
            <a:endParaRPr lang="en-US" sz="2436" dirty="0"/>
          </a:p>
        </p:txBody>
      </p:sp>
      <p:sp>
        <p:nvSpPr>
          <p:cNvPr id="4" name="Text 1"/>
          <p:cNvSpPr/>
          <p:nvPr/>
        </p:nvSpPr>
        <p:spPr>
          <a:xfrm>
            <a:off x="571500" y="1028700"/>
            <a:ext cx="2968228"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D94841"/>
                </a:solidFill>
                <a:latin typeface="Inter" pitchFamily="34" charset="0"/>
                <a:ea typeface="Inter" pitchFamily="34" charset="-122"/>
                <a:cs typeface="Inter" pitchFamily="34" charset="-120"/>
              </a:rPr>
              <a:t>Three Core Entities</a:t>
            </a:r>
            <a:endParaRPr lang="en-US" sz="1193" dirty="0"/>
          </a:p>
        </p:txBody>
      </p:sp>
      <p:sp>
        <p:nvSpPr>
          <p:cNvPr id="5" name="Shape 2"/>
          <p:cNvSpPr/>
          <p:nvPr/>
        </p:nvSpPr>
        <p:spPr>
          <a:xfrm>
            <a:off x="571500" y="1350169"/>
            <a:ext cx="571500" cy="28575"/>
          </a:xfrm>
          <a:prstGeom prst="rect">
            <a:avLst/>
          </a:prstGeom>
          <a:solidFill>
            <a:srgbClr val="D94841"/>
          </a:solidFill>
          <a:ln/>
        </p:spPr>
      </p:sp>
      <p:sp>
        <p:nvSpPr>
          <p:cNvPr id="6" name="Shape 3"/>
          <p:cNvSpPr/>
          <p:nvPr/>
        </p:nvSpPr>
        <p:spPr>
          <a:xfrm>
            <a:off x="6881217" y="984052"/>
            <a:ext cx="1691283" cy="251817"/>
          </a:xfrm>
          <a:prstGeom prst="rect">
            <a:avLst/>
          </a:prstGeom>
          <a:solidFill>
            <a:srgbClr val="1A1A1A"/>
          </a:solidFill>
          <a:ln/>
        </p:spPr>
      </p:sp>
      <p:sp>
        <p:nvSpPr>
          <p:cNvPr id="7" name="Text 4"/>
          <p:cNvSpPr/>
          <p:nvPr/>
        </p:nvSpPr>
        <p:spPr>
          <a:xfrm>
            <a:off x="6881217" y="984052"/>
            <a:ext cx="1691283" cy="251817"/>
          </a:xfrm>
          <a:prstGeom prst="rect">
            <a:avLst/>
          </a:prstGeom>
          <a:noFill/>
          <a:ln/>
        </p:spPr>
        <p:txBody>
          <a:bodyPr wrap="square" lIns="136017" tIns="68072" rIns="136017" bIns="68072" rtlCol="0" anchor="t">
            <a:spAutoFit/>
          </a:bodyPr>
          <a:lstStyle/>
          <a:p>
            <a:pPr algn="l" indent="0" marL="0">
              <a:lnSpc>
                <a:spcPts val="1100"/>
              </a:lnSpc>
              <a:buNone/>
            </a:pPr>
            <a:r>
              <a:rPr lang="en-US" sz="784" b="1" spc="2" kern="0" dirty="0">
                <a:solidFill>
                  <a:srgbClr val="F2C94C"/>
                </a:solidFill>
                <a:latin typeface="Inter" pitchFamily="34" charset="0"/>
                <a:ea typeface="Inter" pitchFamily="34" charset="-122"/>
                <a:cs typeface="Inter" pitchFamily="34" charset="-120"/>
              </a:rPr>
              <a:t>DATA ARCHITECTURE</a:t>
            </a:r>
            <a:endParaRPr lang="en-US" sz="784" dirty="0"/>
          </a:p>
        </p:txBody>
      </p:sp>
      <p:sp>
        <p:nvSpPr>
          <p:cNvPr id="8" name="Text 5"/>
          <p:cNvSpPr/>
          <p:nvPr/>
        </p:nvSpPr>
        <p:spPr>
          <a:xfrm>
            <a:off x="571500" y="1407319"/>
            <a:ext cx="6429375" cy="4572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595959"/>
                </a:solidFill>
                <a:latin typeface="Inter" pitchFamily="34" charset="0"/>
                <a:ea typeface="Inter" pitchFamily="34" charset="-122"/>
                <a:cs typeface="Inter" pitchFamily="34" charset="-120"/>
              </a:rPr>
              <a:t>The PostgreSQL database is structured around three primary entities that capture the lifecycle of patient classification and governance.</a:t>
            </a:r>
            <a:endParaRPr lang="en-US" sz="1050" dirty="0"/>
          </a:p>
        </p:txBody>
      </p:sp>
      <p:pic>
        <p:nvPicPr>
          <p:cNvPr id="9" name="Image 1" descr="preencoded.png">    </p:cNvPr>
          <p:cNvPicPr>
            <a:picLocks noChangeAspect="1"/>
          </p:cNvPicPr>
          <p:nvPr/>
        </p:nvPicPr>
        <p:blipFill>
          <a:blip r:embed="rId2"/>
          <a:stretch>
            <a:fillRect/>
          </a:stretch>
        </p:blipFill>
        <p:spPr>
          <a:xfrm>
            <a:off x="571500" y="2069009"/>
            <a:ext cx="250031" cy="200025"/>
          </a:xfrm>
          <a:prstGeom prst="rect">
            <a:avLst/>
          </a:prstGeom>
        </p:spPr>
      </p:pic>
      <p:sp>
        <p:nvSpPr>
          <p:cNvPr id="10" name="Text 6"/>
          <p:cNvSpPr/>
          <p:nvPr/>
        </p:nvSpPr>
        <p:spPr>
          <a:xfrm>
            <a:off x="907256" y="2035969"/>
            <a:ext cx="508992" cy="266105"/>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Users</a:t>
            </a:r>
            <a:endParaRPr lang="en-US" sz="1397" dirty="0"/>
          </a:p>
        </p:txBody>
      </p:sp>
      <p:sp>
        <p:nvSpPr>
          <p:cNvPr id="11" name="Text 7"/>
          <p:cNvSpPr/>
          <p:nvPr/>
        </p:nvSpPr>
        <p:spPr>
          <a:xfrm>
            <a:off x="571500" y="2459236"/>
            <a:ext cx="257175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4841"/>
                </a:solidFill>
                <a:latin typeface="Inter" pitchFamily="34" charset="0"/>
                <a:ea typeface="Inter" pitchFamily="34" charset="-122"/>
                <a:cs typeface="Inter" pitchFamily="34" charset="-120"/>
              </a:rPr>
              <a:t>KEY ATTRIBUTES</a:t>
            </a:r>
            <a:endParaRPr lang="en-US" sz="683" dirty="0"/>
          </a:p>
        </p:txBody>
      </p:sp>
      <p:sp>
        <p:nvSpPr>
          <p:cNvPr id="12" name="Shape 8"/>
          <p:cNvSpPr/>
          <p:nvPr/>
        </p:nvSpPr>
        <p:spPr>
          <a:xfrm>
            <a:off x="571500" y="2637830"/>
            <a:ext cx="2571750" cy="594327"/>
          </a:xfrm>
          <a:prstGeom prst="rect">
            <a:avLst/>
          </a:prstGeom>
          <a:solidFill>
            <a:srgbClr val="1A1A1A">
              <a:alpha val="5000"/>
            </a:srgbClr>
          </a:solidFill>
          <a:ln/>
        </p:spPr>
      </p:sp>
      <p:sp>
        <p:nvSpPr>
          <p:cNvPr id="13" name="Text 9"/>
          <p:cNvSpPr/>
          <p:nvPr/>
        </p:nvSpPr>
        <p:spPr>
          <a:xfrm>
            <a:off x="571500" y="2637830"/>
            <a:ext cx="2571750" cy="594327"/>
          </a:xfrm>
          <a:prstGeom prst="rect">
            <a:avLst/>
          </a:prstGeom>
          <a:noFill/>
          <a:ln/>
        </p:spPr>
        <p:txBody>
          <a:bodyPr wrap="square" lIns="68072" tIns="68072" rIns="68072" bIns="68072" rtlCol="0" anchor="t">
            <a:spAutoFit/>
          </a:bodyPr>
          <a:lstStyle/>
          <a:p>
            <a:pPr algn="l" indent="0" marL="0">
              <a:lnSpc>
                <a:spcPts val="1300"/>
              </a:lnSpc>
              <a:buNone/>
            </a:pPr>
            <a:r>
              <a:rPr lang="en-US" sz="727" dirty="0">
                <a:solidFill>
                  <a:srgbClr val="1A1A1A"/>
                </a:solidFill>
                <a:latin typeface="monospace" pitchFamily="34" charset="0"/>
                <a:ea typeface="monospace" pitchFamily="34" charset="-122"/>
                <a:cs typeface="monospace" pitchFamily="34" charset="-120"/>
              </a:rPr>
              <a:t>user_id (PK)</a:t>
            </a:r>
            <a:pPr algn="l" indent="0" marL="0">
              <a:lnSpc>
                <a:spcPts val="1300"/>
              </a:lnSpc>
              <a:buNone/>
            </a:pPr>
            <a:r>
              <a:rPr lang="en-US" sz="727" dirty="0">
                <a:solidFill>
                  <a:srgbClr val="1A1A1A"/>
                </a:solidFill>
                <a:latin typeface="monospace" pitchFamily="34" charset="0"/>
                <a:ea typeface="monospace" pitchFamily="34" charset="-122"/>
                <a:cs typeface="monospace" pitchFamily="34" charset="-120"/>
              </a:rPr>
              <a:t>
</a:t>
            </a:r>
            <a:pPr algn="l" indent="0" marL="0">
              <a:lnSpc>
                <a:spcPts val="1300"/>
              </a:lnSpc>
              <a:buNone/>
            </a:pPr>
            <a:r>
              <a:rPr lang="en-US" sz="727" dirty="0">
                <a:solidFill>
                  <a:srgbClr val="1A1A1A"/>
                </a:solidFill>
                <a:latin typeface="monospace" pitchFamily="34" charset="0"/>
                <a:ea typeface="monospace" pitchFamily="34" charset="-122"/>
                <a:cs typeface="monospace" pitchFamily="34" charset="-120"/>
              </a:rPr>
              <a:t>role (Admin/Manager)</a:t>
            </a:r>
            <a:pPr algn="l" indent="0" marL="0">
              <a:lnSpc>
                <a:spcPts val="1300"/>
              </a:lnSpc>
              <a:buNone/>
            </a:pPr>
            <a:r>
              <a:rPr lang="en-US" sz="727" dirty="0">
                <a:solidFill>
                  <a:srgbClr val="1A1A1A"/>
                </a:solidFill>
                <a:latin typeface="monospace" pitchFamily="34" charset="0"/>
                <a:ea typeface="monospace" pitchFamily="34" charset="-122"/>
                <a:cs typeface="monospace" pitchFamily="34" charset="-120"/>
              </a:rPr>
              <a:t>
</a:t>
            </a:r>
            <a:pPr algn="l" indent="0" marL="0">
              <a:lnSpc>
                <a:spcPts val="1300"/>
              </a:lnSpc>
              <a:buNone/>
            </a:pPr>
            <a:r>
              <a:rPr lang="en-US" sz="727" dirty="0">
                <a:solidFill>
                  <a:srgbClr val="1A1A1A"/>
                </a:solidFill>
                <a:latin typeface="monospace" pitchFamily="34" charset="0"/>
                <a:ea typeface="monospace" pitchFamily="34" charset="-122"/>
                <a:cs typeface="monospace" pitchFamily="34" charset="-120"/>
              </a:rPr>
              <a:t>access_level</a:t>
            </a:r>
            <a:endParaRPr lang="en-US" sz="727" dirty="0"/>
          </a:p>
        </p:txBody>
      </p:sp>
      <p:sp>
        <p:nvSpPr>
          <p:cNvPr id="14" name="Text 10"/>
          <p:cNvSpPr/>
          <p:nvPr/>
        </p:nvSpPr>
        <p:spPr>
          <a:xfrm>
            <a:off x="571500" y="3317881"/>
            <a:ext cx="257175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4841"/>
                </a:solidFill>
                <a:latin typeface="Inter" pitchFamily="34" charset="0"/>
                <a:ea typeface="Inter" pitchFamily="34" charset="-122"/>
                <a:cs typeface="Inter" pitchFamily="34" charset="-120"/>
              </a:rPr>
              <a:t>ROLE IN SYSTEM</a:t>
            </a:r>
            <a:endParaRPr lang="en-US" sz="683" dirty="0"/>
          </a:p>
        </p:txBody>
      </p:sp>
      <p:sp>
        <p:nvSpPr>
          <p:cNvPr id="15" name="Text 11"/>
          <p:cNvSpPr/>
          <p:nvPr/>
        </p:nvSpPr>
        <p:spPr>
          <a:xfrm>
            <a:off x="571500" y="3496475"/>
            <a:ext cx="2571750"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Governs authentication and authorization</a:t>
            </a:r>
            <a:endParaRPr lang="en-US" sz="834" dirty="0"/>
          </a:p>
        </p:txBody>
      </p:sp>
      <p:pic>
        <p:nvPicPr>
          <p:cNvPr id="16" name="Image 2" descr="preencoded.png">    </p:cNvPr>
          <p:cNvPicPr>
            <a:picLocks noChangeAspect="1"/>
          </p:cNvPicPr>
          <p:nvPr/>
        </p:nvPicPr>
        <p:blipFill>
          <a:blip r:embed="rId3"/>
          <a:stretch>
            <a:fillRect/>
          </a:stretch>
        </p:blipFill>
        <p:spPr>
          <a:xfrm>
            <a:off x="3286125" y="2069009"/>
            <a:ext cx="250031" cy="200025"/>
          </a:xfrm>
          <a:prstGeom prst="rect">
            <a:avLst/>
          </a:prstGeom>
        </p:spPr>
      </p:pic>
      <p:sp>
        <p:nvSpPr>
          <p:cNvPr id="17" name="Text 12"/>
          <p:cNvSpPr/>
          <p:nvPr/>
        </p:nvSpPr>
        <p:spPr>
          <a:xfrm>
            <a:off x="3621881" y="2035969"/>
            <a:ext cx="746522" cy="266105"/>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Patients</a:t>
            </a:r>
            <a:endParaRPr lang="en-US" sz="1397" dirty="0"/>
          </a:p>
        </p:txBody>
      </p:sp>
      <p:sp>
        <p:nvSpPr>
          <p:cNvPr id="18" name="Text 13"/>
          <p:cNvSpPr/>
          <p:nvPr/>
        </p:nvSpPr>
        <p:spPr>
          <a:xfrm>
            <a:off x="3286125" y="2459236"/>
            <a:ext cx="257175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4841"/>
                </a:solidFill>
                <a:latin typeface="Inter" pitchFamily="34" charset="0"/>
                <a:ea typeface="Inter" pitchFamily="34" charset="-122"/>
                <a:cs typeface="Inter" pitchFamily="34" charset="-120"/>
              </a:rPr>
              <a:t>KEY ATTRIBUTES</a:t>
            </a:r>
            <a:endParaRPr lang="en-US" sz="683" dirty="0"/>
          </a:p>
        </p:txBody>
      </p:sp>
      <p:sp>
        <p:nvSpPr>
          <p:cNvPr id="19" name="Shape 14"/>
          <p:cNvSpPr/>
          <p:nvPr/>
        </p:nvSpPr>
        <p:spPr>
          <a:xfrm>
            <a:off x="3286125" y="2637830"/>
            <a:ext cx="2571750" cy="594327"/>
          </a:xfrm>
          <a:prstGeom prst="rect">
            <a:avLst/>
          </a:prstGeom>
          <a:solidFill>
            <a:srgbClr val="1A1A1A">
              <a:alpha val="5000"/>
            </a:srgbClr>
          </a:solidFill>
          <a:ln/>
        </p:spPr>
      </p:sp>
      <p:sp>
        <p:nvSpPr>
          <p:cNvPr id="20" name="Text 15"/>
          <p:cNvSpPr/>
          <p:nvPr/>
        </p:nvSpPr>
        <p:spPr>
          <a:xfrm>
            <a:off x="3286125" y="2637830"/>
            <a:ext cx="2571750" cy="594327"/>
          </a:xfrm>
          <a:prstGeom prst="rect">
            <a:avLst/>
          </a:prstGeom>
          <a:noFill/>
          <a:ln/>
        </p:spPr>
        <p:txBody>
          <a:bodyPr wrap="square" lIns="68072" tIns="68072" rIns="68072" bIns="68072" rtlCol="0" anchor="t">
            <a:spAutoFit/>
          </a:bodyPr>
          <a:lstStyle/>
          <a:p>
            <a:pPr algn="l" indent="0" marL="0">
              <a:lnSpc>
                <a:spcPts val="1300"/>
              </a:lnSpc>
              <a:buNone/>
            </a:pPr>
            <a:r>
              <a:rPr lang="en-US" sz="727" dirty="0">
                <a:solidFill>
                  <a:srgbClr val="1A1A1A"/>
                </a:solidFill>
                <a:latin typeface="monospace" pitchFamily="34" charset="0"/>
                <a:ea typeface="monospace" pitchFamily="34" charset="-122"/>
                <a:cs typeface="monospace" pitchFamily="34" charset="-120"/>
              </a:rPr>
              <a:t>patient_id (PK)</a:t>
            </a:r>
            <a:pPr algn="l" indent="0" marL="0">
              <a:lnSpc>
                <a:spcPts val="1300"/>
              </a:lnSpc>
              <a:buNone/>
            </a:pPr>
            <a:r>
              <a:rPr lang="en-US" sz="727" dirty="0">
                <a:solidFill>
                  <a:srgbClr val="1A1A1A"/>
                </a:solidFill>
                <a:latin typeface="monospace" pitchFamily="34" charset="0"/>
                <a:ea typeface="monospace" pitchFamily="34" charset="-122"/>
                <a:cs typeface="monospace" pitchFamily="34" charset="-120"/>
              </a:rPr>
              <a:t>
</a:t>
            </a:r>
            <a:pPr algn="l" indent="0" marL="0">
              <a:lnSpc>
                <a:spcPts val="1300"/>
              </a:lnSpc>
              <a:buNone/>
            </a:pPr>
            <a:r>
              <a:rPr lang="en-US" sz="727" dirty="0">
                <a:solidFill>
                  <a:srgbClr val="1A1A1A"/>
                </a:solidFill>
                <a:latin typeface="monospace" pitchFamily="34" charset="0"/>
                <a:ea typeface="monospace" pitchFamily="34" charset="-122"/>
                <a:cs typeface="monospace" pitchFamily="34" charset="-120"/>
              </a:rPr>
              <a:t>vitals (SpO₂, HR, BP)</a:t>
            </a:r>
            <a:pPr algn="l" indent="0" marL="0">
              <a:lnSpc>
                <a:spcPts val="1300"/>
              </a:lnSpc>
              <a:buNone/>
            </a:pPr>
            <a:r>
              <a:rPr lang="en-US" sz="727" dirty="0">
                <a:solidFill>
                  <a:srgbClr val="1A1A1A"/>
                </a:solidFill>
                <a:latin typeface="monospace" pitchFamily="34" charset="0"/>
                <a:ea typeface="monospace" pitchFamily="34" charset="-122"/>
                <a:cs typeface="monospace" pitchFamily="34" charset="-120"/>
              </a:rPr>
              <a:t>
</a:t>
            </a:r>
            <a:pPr algn="l" indent="0" marL="0">
              <a:lnSpc>
                <a:spcPts val="1300"/>
              </a:lnSpc>
              <a:buNone/>
            </a:pPr>
            <a:r>
              <a:rPr lang="en-US" sz="727" dirty="0">
                <a:solidFill>
                  <a:srgbClr val="1A1A1A"/>
                </a:solidFill>
                <a:latin typeface="monospace" pitchFamily="34" charset="0"/>
                <a:ea typeface="monospace" pitchFamily="34" charset="-122"/>
                <a:cs typeface="monospace" pitchFamily="34" charset="-120"/>
              </a:rPr>
              <a:t>current_tier</a:t>
            </a:r>
            <a:endParaRPr lang="en-US" sz="727" dirty="0"/>
          </a:p>
        </p:txBody>
      </p:sp>
      <p:sp>
        <p:nvSpPr>
          <p:cNvPr id="21" name="Text 16"/>
          <p:cNvSpPr/>
          <p:nvPr/>
        </p:nvSpPr>
        <p:spPr>
          <a:xfrm>
            <a:off x="3286125" y="3317881"/>
            <a:ext cx="257175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4841"/>
                </a:solidFill>
                <a:latin typeface="Inter" pitchFamily="34" charset="0"/>
                <a:ea typeface="Inter" pitchFamily="34" charset="-122"/>
                <a:cs typeface="Inter" pitchFamily="34" charset="-120"/>
              </a:rPr>
              <a:t>ROLE IN SYSTEM</a:t>
            </a:r>
            <a:endParaRPr lang="en-US" sz="683" dirty="0"/>
          </a:p>
        </p:txBody>
      </p:sp>
      <p:sp>
        <p:nvSpPr>
          <p:cNvPr id="22" name="Text 17"/>
          <p:cNvSpPr/>
          <p:nvPr/>
        </p:nvSpPr>
        <p:spPr>
          <a:xfrm>
            <a:off x="3286125" y="3496475"/>
            <a:ext cx="2571750"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Central record for classification and care tracking</a:t>
            </a:r>
            <a:endParaRPr lang="en-US" sz="834" dirty="0"/>
          </a:p>
        </p:txBody>
      </p:sp>
      <p:pic>
        <p:nvPicPr>
          <p:cNvPr id="23" name="Image 3" descr="preencoded.png">    </p:cNvPr>
          <p:cNvPicPr>
            <a:picLocks noChangeAspect="1"/>
          </p:cNvPicPr>
          <p:nvPr/>
        </p:nvPicPr>
        <p:blipFill>
          <a:blip r:embed="rId4"/>
          <a:stretch>
            <a:fillRect/>
          </a:stretch>
        </p:blipFill>
        <p:spPr>
          <a:xfrm>
            <a:off x="6000750" y="2069009"/>
            <a:ext cx="250031" cy="200025"/>
          </a:xfrm>
          <a:prstGeom prst="rect">
            <a:avLst/>
          </a:prstGeom>
        </p:spPr>
      </p:pic>
      <p:sp>
        <p:nvSpPr>
          <p:cNvPr id="24" name="Text 18"/>
          <p:cNvSpPr/>
          <p:nvPr/>
        </p:nvSpPr>
        <p:spPr>
          <a:xfrm>
            <a:off x="6336506" y="2035969"/>
            <a:ext cx="514350" cy="266105"/>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Rules</a:t>
            </a:r>
            <a:endParaRPr lang="en-US" sz="1397" dirty="0"/>
          </a:p>
        </p:txBody>
      </p:sp>
      <p:sp>
        <p:nvSpPr>
          <p:cNvPr id="25" name="Text 19"/>
          <p:cNvSpPr/>
          <p:nvPr/>
        </p:nvSpPr>
        <p:spPr>
          <a:xfrm>
            <a:off x="6000750" y="2459236"/>
            <a:ext cx="257175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4841"/>
                </a:solidFill>
                <a:latin typeface="Inter" pitchFamily="34" charset="0"/>
                <a:ea typeface="Inter" pitchFamily="34" charset="-122"/>
                <a:cs typeface="Inter" pitchFamily="34" charset="-120"/>
              </a:rPr>
              <a:t>KEY ATTRIBUTES</a:t>
            </a:r>
            <a:endParaRPr lang="en-US" sz="683" dirty="0"/>
          </a:p>
        </p:txBody>
      </p:sp>
      <p:sp>
        <p:nvSpPr>
          <p:cNvPr id="26" name="Shape 20"/>
          <p:cNvSpPr/>
          <p:nvPr/>
        </p:nvSpPr>
        <p:spPr>
          <a:xfrm>
            <a:off x="6000750" y="2637830"/>
            <a:ext cx="2571750" cy="594327"/>
          </a:xfrm>
          <a:prstGeom prst="rect">
            <a:avLst/>
          </a:prstGeom>
          <a:solidFill>
            <a:srgbClr val="1A1A1A">
              <a:alpha val="5000"/>
            </a:srgbClr>
          </a:solidFill>
          <a:ln/>
        </p:spPr>
      </p:sp>
      <p:sp>
        <p:nvSpPr>
          <p:cNvPr id="27" name="Text 21"/>
          <p:cNvSpPr/>
          <p:nvPr/>
        </p:nvSpPr>
        <p:spPr>
          <a:xfrm>
            <a:off x="6000750" y="2637830"/>
            <a:ext cx="2571750" cy="594327"/>
          </a:xfrm>
          <a:prstGeom prst="rect">
            <a:avLst/>
          </a:prstGeom>
          <a:noFill/>
          <a:ln/>
        </p:spPr>
        <p:txBody>
          <a:bodyPr wrap="square" lIns="68072" tIns="68072" rIns="68072" bIns="68072" rtlCol="0" anchor="t">
            <a:spAutoFit/>
          </a:bodyPr>
          <a:lstStyle/>
          <a:p>
            <a:pPr algn="l" indent="0" marL="0">
              <a:lnSpc>
                <a:spcPts val="1300"/>
              </a:lnSpc>
              <a:buNone/>
            </a:pPr>
            <a:r>
              <a:rPr lang="en-US" sz="727" dirty="0">
                <a:solidFill>
                  <a:srgbClr val="1A1A1A"/>
                </a:solidFill>
                <a:latin typeface="monospace" pitchFamily="34" charset="0"/>
                <a:ea typeface="monospace" pitchFamily="34" charset="-122"/>
                <a:cs typeface="monospace" pitchFamily="34" charset="-120"/>
              </a:rPr>
              <a:t>rule_id (PK)</a:t>
            </a:r>
            <a:pPr algn="l" indent="0" marL="0">
              <a:lnSpc>
                <a:spcPts val="1300"/>
              </a:lnSpc>
              <a:buNone/>
            </a:pPr>
            <a:r>
              <a:rPr lang="en-US" sz="727" dirty="0">
                <a:solidFill>
                  <a:srgbClr val="1A1A1A"/>
                </a:solidFill>
                <a:latin typeface="monospace" pitchFamily="34" charset="0"/>
                <a:ea typeface="monospace" pitchFamily="34" charset="-122"/>
                <a:cs typeface="monospace" pitchFamily="34" charset="-120"/>
              </a:rPr>
              <a:t>
</a:t>
            </a:r>
            <a:pPr algn="l" indent="0" marL="0">
              <a:lnSpc>
                <a:spcPts val="1300"/>
              </a:lnSpc>
              <a:buNone/>
            </a:pPr>
            <a:r>
              <a:rPr lang="en-US" sz="727" dirty="0">
                <a:solidFill>
                  <a:srgbClr val="1A1A1A"/>
                </a:solidFill>
                <a:latin typeface="monospace" pitchFamily="34" charset="0"/>
                <a:ea typeface="monospace" pitchFamily="34" charset="-122"/>
                <a:cs typeface="monospace" pitchFamily="34" charset="-120"/>
              </a:rPr>
              <a:t>condition_logic</a:t>
            </a:r>
            <a:pPr algn="l" indent="0" marL="0">
              <a:lnSpc>
                <a:spcPts val="1300"/>
              </a:lnSpc>
              <a:buNone/>
            </a:pPr>
            <a:r>
              <a:rPr lang="en-US" sz="727" dirty="0">
                <a:solidFill>
                  <a:srgbClr val="1A1A1A"/>
                </a:solidFill>
                <a:latin typeface="monospace" pitchFamily="34" charset="0"/>
                <a:ea typeface="monospace" pitchFamily="34" charset="-122"/>
                <a:cs typeface="monospace" pitchFamily="34" charset="-120"/>
              </a:rPr>
              <a:t>
</a:t>
            </a:r>
            <a:pPr algn="l" indent="0" marL="0">
              <a:lnSpc>
                <a:spcPts val="1300"/>
              </a:lnSpc>
              <a:buNone/>
            </a:pPr>
            <a:r>
              <a:rPr lang="en-US" sz="727" dirty="0">
                <a:solidFill>
                  <a:srgbClr val="1A1A1A"/>
                </a:solidFill>
                <a:latin typeface="monospace" pitchFamily="34" charset="0"/>
                <a:ea typeface="monospace" pitchFamily="34" charset="-122"/>
                <a:cs typeface="monospace" pitchFamily="34" charset="-120"/>
              </a:rPr>
              <a:t>severity_weight</a:t>
            </a:r>
            <a:endParaRPr lang="en-US" sz="727" dirty="0"/>
          </a:p>
        </p:txBody>
      </p:sp>
      <p:sp>
        <p:nvSpPr>
          <p:cNvPr id="28" name="Text 22"/>
          <p:cNvSpPr/>
          <p:nvPr/>
        </p:nvSpPr>
        <p:spPr>
          <a:xfrm>
            <a:off x="6000750" y="3317881"/>
            <a:ext cx="257175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4841"/>
                </a:solidFill>
                <a:latin typeface="Inter" pitchFamily="34" charset="0"/>
                <a:ea typeface="Inter" pitchFamily="34" charset="-122"/>
                <a:cs typeface="Inter" pitchFamily="34" charset="-120"/>
              </a:rPr>
              <a:t>ROLE IN SYSTEM</a:t>
            </a:r>
            <a:endParaRPr lang="en-US" sz="683" dirty="0"/>
          </a:p>
        </p:txBody>
      </p:sp>
      <p:sp>
        <p:nvSpPr>
          <p:cNvPr id="29" name="Text 23"/>
          <p:cNvSpPr/>
          <p:nvPr/>
        </p:nvSpPr>
        <p:spPr>
          <a:xfrm>
            <a:off x="6000750" y="3496475"/>
            <a:ext cx="2571750"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595959"/>
                </a:solidFill>
                <a:latin typeface="Inter" pitchFamily="34" charset="0"/>
                <a:ea typeface="Inter" pitchFamily="34" charset="-122"/>
                <a:cs typeface="Inter" pitchFamily="34" charset="-120"/>
              </a:rPr>
              <a:t>Defines the configurable triage logic applied by the Rule Engine</a:t>
            </a:r>
            <a:endParaRPr lang="en-US" sz="834" dirty="0"/>
          </a:p>
        </p:txBody>
      </p:sp>
      <p:sp>
        <p:nvSpPr>
          <p:cNvPr id="30" name="Shape 24"/>
          <p:cNvSpPr/>
          <p:nvPr/>
        </p:nvSpPr>
        <p:spPr>
          <a:xfrm>
            <a:off x="571500" y="4096550"/>
            <a:ext cx="8001000" cy="1005818"/>
          </a:xfrm>
          <a:prstGeom prst="rect">
            <a:avLst/>
          </a:prstGeom>
          <a:solidFill>
            <a:srgbClr val="1A1A1A"/>
          </a:solidFill>
          <a:ln/>
        </p:spPr>
      </p:sp>
      <p:sp>
        <p:nvSpPr>
          <p:cNvPr id="31" name="Text 25"/>
          <p:cNvSpPr/>
          <p:nvPr/>
        </p:nvSpPr>
        <p:spPr>
          <a:xfrm>
            <a:off x="771525" y="4239425"/>
            <a:ext cx="7600950"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2C94C"/>
                </a:solidFill>
                <a:latin typeface="Playfair Display" pitchFamily="34" charset="0"/>
                <a:ea typeface="Playfair Display" pitchFamily="34" charset="-122"/>
                <a:cs typeface="Playfair Display" pitchFamily="34" charset="-120"/>
              </a:rPr>
              <a:t>Data Flow Overview</a:t>
            </a:r>
            <a:endParaRPr lang="en-US" sz="1193" dirty="0"/>
          </a:p>
        </p:txBody>
      </p:sp>
      <p:pic>
        <p:nvPicPr>
          <p:cNvPr id="32" name="Image 4" descr="preencoded.png">    </p:cNvPr>
          <p:cNvPicPr>
            <a:picLocks noChangeAspect="1"/>
          </p:cNvPicPr>
          <p:nvPr/>
        </p:nvPicPr>
        <p:blipFill>
          <a:blip r:embed="rId5"/>
          <a:stretch>
            <a:fillRect/>
          </a:stretch>
        </p:blipFill>
        <p:spPr>
          <a:xfrm>
            <a:off x="771525" y="4582325"/>
            <a:ext cx="100013" cy="114300"/>
          </a:xfrm>
          <a:prstGeom prst="rect">
            <a:avLst/>
          </a:prstGeom>
        </p:spPr>
      </p:pic>
      <p:sp>
        <p:nvSpPr>
          <p:cNvPr id="33" name="Text 26"/>
          <p:cNvSpPr/>
          <p:nvPr/>
        </p:nvSpPr>
        <p:spPr>
          <a:xfrm>
            <a:off x="942975" y="4553750"/>
            <a:ext cx="2539603"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FAFAFA"/>
                </a:solidFill>
                <a:latin typeface="Inter" pitchFamily="34" charset="0"/>
                <a:ea typeface="Inter" pitchFamily="34" charset="-122"/>
                <a:cs typeface="Inter" pitchFamily="34" charset="-120"/>
              </a:rPr>
              <a:t>Admins create and update </a:t>
            </a:r>
            <a:pPr algn="l" indent="0" marL="0">
              <a:lnSpc>
                <a:spcPts val="1300"/>
              </a:lnSpc>
              <a:buNone/>
            </a:pPr>
            <a:r>
              <a:rPr lang="en-US" sz="784" b="1" dirty="0">
                <a:solidFill>
                  <a:srgbClr val="FAFAFA"/>
                </a:solidFill>
                <a:latin typeface="Inter" pitchFamily="34" charset="0"/>
                <a:ea typeface="Inter" pitchFamily="34" charset="-122"/>
                <a:cs typeface="Inter" pitchFamily="34" charset="-120"/>
              </a:rPr>
              <a:t>Classification Rules</a:t>
            </a:r>
            <a:endParaRPr lang="en-US" sz="834" dirty="0"/>
          </a:p>
        </p:txBody>
      </p:sp>
      <p:pic>
        <p:nvPicPr>
          <p:cNvPr id="34" name="Image 5" descr="preencoded.png">    </p:cNvPr>
          <p:cNvPicPr>
            <a:picLocks noChangeAspect="1"/>
          </p:cNvPicPr>
          <p:nvPr/>
        </p:nvPicPr>
        <p:blipFill>
          <a:blip r:embed="rId6"/>
          <a:stretch>
            <a:fillRect/>
          </a:stretch>
        </p:blipFill>
        <p:spPr>
          <a:xfrm>
            <a:off x="4657725" y="4582325"/>
            <a:ext cx="100013" cy="114300"/>
          </a:xfrm>
          <a:prstGeom prst="rect">
            <a:avLst/>
          </a:prstGeom>
        </p:spPr>
      </p:pic>
      <p:sp>
        <p:nvSpPr>
          <p:cNvPr id="35" name="Text 27"/>
          <p:cNvSpPr/>
          <p:nvPr/>
        </p:nvSpPr>
        <p:spPr>
          <a:xfrm>
            <a:off x="4829175" y="4553750"/>
            <a:ext cx="3248620"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FAFAFA"/>
                </a:solidFill>
                <a:latin typeface="Inter" pitchFamily="34" charset="0"/>
                <a:ea typeface="Inter" pitchFamily="34" charset="-122"/>
                <a:cs typeface="Inter" pitchFamily="34" charset="-120"/>
              </a:rPr>
              <a:t>The Classifier reads </a:t>
            </a:r>
            <a:pPr algn="l" indent="0" marL="0">
              <a:lnSpc>
                <a:spcPts val="1300"/>
              </a:lnSpc>
              <a:buNone/>
            </a:pPr>
            <a:r>
              <a:rPr lang="en-US" sz="784" b="1" dirty="0">
                <a:solidFill>
                  <a:srgbClr val="FAFAFA"/>
                </a:solidFill>
                <a:latin typeface="Inter" pitchFamily="34" charset="0"/>
                <a:ea typeface="Inter" pitchFamily="34" charset="-122"/>
                <a:cs typeface="Inter" pitchFamily="34" charset="-120"/>
              </a:rPr>
              <a:t>Rules</a:t>
            </a:r>
            <a:pPr algn="l" indent="0" marL="0">
              <a:lnSpc>
                <a:spcPts val="1300"/>
              </a:lnSpc>
              <a:buNone/>
            </a:pPr>
            <a:r>
              <a:rPr lang="en-US" sz="834" dirty="0">
                <a:solidFill>
                  <a:srgbClr val="FAFAFA"/>
                </a:solidFill>
                <a:latin typeface="Inter" pitchFamily="34" charset="0"/>
                <a:ea typeface="Inter" pitchFamily="34" charset="-122"/>
                <a:cs typeface="Inter" pitchFamily="34" charset="-120"/>
              </a:rPr>
              <a:t> and applies them to </a:t>
            </a:r>
            <a:pPr algn="l" indent="0" marL="0">
              <a:lnSpc>
                <a:spcPts val="1300"/>
              </a:lnSpc>
              <a:buNone/>
            </a:pPr>
            <a:r>
              <a:rPr lang="en-US" sz="784" b="1" dirty="0">
                <a:solidFill>
                  <a:srgbClr val="FAFAFA"/>
                </a:solidFill>
                <a:latin typeface="Inter" pitchFamily="34" charset="0"/>
                <a:ea typeface="Inter" pitchFamily="34" charset="-122"/>
                <a:cs typeface="Inter" pitchFamily="34" charset="-120"/>
              </a:rPr>
              <a:t>Patient</a:t>
            </a:r>
            <a:pPr algn="l" indent="0" marL="0">
              <a:lnSpc>
                <a:spcPts val="1300"/>
              </a:lnSpc>
              <a:buNone/>
            </a:pPr>
            <a:r>
              <a:rPr lang="en-US" sz="834" dirty="0">
                <a:solidFill>
                  <a:srgbClr val="FAFAFA"/>
                </a:solidFill>
                <a:latin typeface="Inter" pitchFamily="34" charset="0"/>
                <a:ea typeface="Inter" pitchFamily="34" charset="-122"/>
                <a:cs typeface="Inter" pitchFamily="34" charset="-120"/>
              </a:rPr>
              <a:t> vitals</a:t>
            </a:r>
            <a:endParaRPr lang="en-US" sz="834" dirty="0"/>
          </a:p>
        </p:txBody>
      </p:sp>
      <p:pic>
        <p:nvPicPr>
          <p:cNvPr id="36" name="Image 6" descr="preencoded.png">    </p:cNvPr>
          <p:cNvPicPr>
            <a:picLocks noChangeAspect="1"/>
          </p:cNvPicPr>
          <p:nvPr/>
        </p:nvPicPr>
        <p:blipFill>
          <a:blip r:embed="rId7"/>
          <a:stretch>
            <a:fillRect/>
          </a:stretch>
        </p:blipFill>
        <p:spPr>
          <a:xfrm>
            <a:off x="771525" y="4828059"/>
            <a:ext cx="100013" cy="114300"/>
          </a:xfrm>
          <a:prstGeom prst="rect">
            <a:avLst/>
          </a:prstGeom>
        </p:spPr>
      </p:pic>
      <p:sp>
        <p:nvSpPr>
          <p:cNvPr id="37" name="Text 28"/>
          <p:cNvSpPr/>
          <p:nvPr/>
        </p:nvSpPr>
        <p:spPr>
          <a:xfrm>
            <a:off x="942975" y="4799484"/>
            <a:ext cx="3291483"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FAFAFA"/>
                </a:solidFill>
                <a:latin typeface="Inter" pitchFamily="34" charset="0"/>
                <a:ea typeface="Inter" pitchFamily="34" charset="-122"/>
                <a:cs typeface="Inter" pitchFamily="34" charset="-120"/>
              </a:rPr>
              <a:t>All actions are logged against the </a:t>
            </a:r>
            <a:pPr algn="l" indent="0" marL="0">
              <a:lnSpc>
                <a:spcPts val="1300"/>
              </a:lnSpc>
              <a:buNone/>
            </a:pPr>
            <a:r>
              <a:rPr lang="en-US" sz="784" b="1" dirty="0">
                <a:solidFill>
                  <a:srgbClr val="FAFAFA"/>
                </a:solidFill>
                <a:latin typeface="Inter" pitchFamily="34" charset="0"/>
                <a:ea typeface="Inter" pitchFamily="34" charset="-122"/>
                <a:cs typeface="Inter" pitchFamily="34" charset="-120"/>
              </a:rPr>
              <a:t>Users</a:t>
            </a:r>
            <a:pPr algn="l" indent="0" marL="0">
              <a:lnSpc>
                <a:spcPts val="1300"/>
              </a:lnSpc>
              <a:buNone/>
            </a:pPr>
            <a:r>
              <a:rPr lang="en-US" sz="834" dirty="0">
                <a:solidFill>
                  <a:srgbClr val="FAFAFA"/>
                </a:solidFill>
                <a:latin typeface="Inter" pitchFamily="34" charset="0"/>
                <a:ea typeface="Inter" pitchFamily="34" charset="-122"/>
                <a:cs typeface="Inter" pitchFamily="34" charset="-120"/>
              </a:rPr>
              <a:t> entity for auditability</a:t>
            </a:r>
            <a:endParaRPr lang="en-US" sz="83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57200"/>
            <a:ext cx="8001000" cy="137517"/>
          </a:xfrm>
          <a:prstGeom prst="rect">
            <a:avLst/>
          </a:prstGeom>
          <a:noFill/>
          <a:ln/>
        </p:spPr>
        <p:txBody>
          <a:bodyPr wrap="none" lIns="0" tIns="0" rIns="0" bIns="0" rtlCol="0" anchor="t">
            <a:spAutoFit/>
          </a:bodyPr>
          <a:lstStyle/>
          <a:p>
            <a:pPr algn="l" indent="0" marL="0">
              <a:lnSpc>
                <a:spcPts val="1100"/>
              </a:lnSpc>
              <a:buNone/>
            </a:pPr>
            <a:r>
              <a:rPr lang="en-US" sz="784" b="1" spc="2" kern="0" dirty="0">
                <a:solidFill>
                  <a:srgbClr val="D94841"/>
                </a:solidFill>
                <a:latin typeface="Inter" pitchFamily="34" charset="0"/>
                <a:ea typeface="Inter" pitchFamily="34" charset="-122"/>
                <a:cs typeface="Inter" pitchFamily="34" charset="-120"/>
              </a:rPr>
              <a:t>DELIVERY PLAN</a:t>
            </a:r>
            <a:endParaRPr lang="en-US" sz="784" dirty="0"/>
          </a:p>
        </p:txBody>
      </p:sp>
      <p:sp>
        <p:nvSpPr>
          <p:cNvPr id="4" name="Text 1"/>
          <p:cNvSpPr/>
          <p:nvPr/>
        </p:nvSpPr>
        <p:spPr>
          <a:xfrm>
            <a:off x="571500" y="680442"/>
            <a:ext cx="8001000" cy="45720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Implementation Roadmap</a:t>
            </a:r>
            <a:endParaRPr lang="en-US" sz="2436" dirty="0"/>
          </a:p>
        </p:txBody>
      </p:sp>
      <p:sp>
        <p:nvSpPr>
          <p:cNvPr id="5" name="Text 2"/>
          <p:cNvSpPr/>
          <p:nvPr/>
        </p:nvSpPr>
        <p:spPr>
          <a:xfrm>
            <a:off x="571500" y="1251942"/>
            <a:ext cx="8001000"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595959"/>
                </a:solidFill>
                <a:latin typeface="Inter" pitchFamily="34" charset="0"/>
                <a:ea typeface="Inter" pitchFamily="34" charset="-122"/>
                <a:cs typeface="Inter" pitchFamily="34" charset="-120"/>
              </a:rPr>
              <a:t>From Concept to Deployment in 4 Hours</a:t>
            </a:r>
            <a:endParaRPr lang="en-US" sz="1193" dirty="0"/>
          </a:p>
        </p:txBody>
      </p:sp>
      <p:sp>
        <p:nvSpPr>
          <p:cNvPr id="6" name="Shape 3"/>
          <p:cNvSpPr/>
          <p:nvPr/>
        </p:nvSpPr>
        <p:spPr>
          <a:xfrm>
            <a:off x="571500" y="1573411"/>
            <a:ext cx="571500" cy="28575"/>
          </a:xfrm>
          <a:prstGeom prst="rect">
            <a:avLst/>
          </a:prstGeom>
          <a:solidFill>
            <a:srgbClr val="F2C94C"/>
          </a:solidFill>
          <a:ln/>
        </p:spPr>
      </p:sp>
      <p:sp>
        <p:nvSpPr>
          <p:cNvPr id="7" name="Shape 4"/>
          <p:cNvSpPr/>
          <p:nvPr/>
        </p:nvSpPr>
        <p:spPr>
          <a:xfrm>
            <a:off x="571500" y="1830586"/>
            <a:ext cx="342900" cy="342900"/>
          </a:xfrm>
          <a:prstGeom prst="ellipse">
            <a:avLst/>
          </a:prstGeom>
          <a:solidFill>
            <a:srgbClr val="1A1A1A"/>
          </a:solidFill>
          <a:ln w="27432">
            <a:solidFill>
              <a:srgbClr val="FAFAFA"/>
            </a:solidFill>
            <a:prstDash val="solid"/>
          </a:ln>
        </p:spPr>
      </p:sp>
      <p:sp>
        <p:nvSpPr>
          <p:cNvPr id="8" name="Text 5"/>
          <p:cNvSpPr/>
          <p:nvPr/>
        </p:nvSpPr>
        <p:spPr>
          <a:xfrm>
            <a:off x="571500" y="1830586"/>
            <a:ext cx="342900" cy="342900"/>
          </a:xfrm>
          <a:prstGeom prst="rect">
            <a:avLst/>
          </a:prstGeom>
          <a:noFill/>
          <a:ln/>
        </p:spPr>
        <p:txBody>
          <a:bodyPr wrap="square" lIns="0" tIns="0" rIns="0" bIns="0" rtlCol="0" anchor="ctr">
            <a:spAutoFit/>
          </a:bodyPr>
          <a:lstStyle/>
          <a:p>
            <a:pPr algn="ctr" indent="0" marL="0">
              <a:lnSpc>
                <a:spcPts val="1600"/>
              </a:lnSpc>
              <a:buNone/>
            </a:pPr>
            <a:r>
              <a:rPr lang="en-US" sz="1193" b="1" dirty="0">
                <a:solidFill>
                  <a:srgbClr val="F2C94C"/>
                </a:solidFill>
                <a:latin typeface="Playfair Display" pitchFamily="34" charset="0"/>
                <a:ea typeface="Playfair Display" pitchFamily="34" charset="-122"/>
                <a:cs typeface="Playfair Display" pitchFamily="34" charset="-120"/>
              </a:rPr>
              <a:t>1</a:t>
            </a:r>
            <a:endParaRPr lang="en-US" sz="1193" dirty="0"/>
          </a:p>
        </p:txBody>
      </p:sp>
      <p:sp>
        <p:nvSpPr>
          <p:cNvPr id="9" name="Text 6"/>
          <p:cNvSpPr/>
          <p:nvPr/>
        </p:nvSpPr>
        <p:spPr>
          <a:xfrm>
            <a:off x="571500" y="2287786"/>
            <a:ext cx="1760209" cy="185738"/>
          </a:xfrm>
          <a:prstGeom prst="rect">
            <a:avLst/>
          </a:prstGeom>
          <a:noFill/>
          <a:ln/>
        </p:spPr>
        <p:txBody>
          <a:bodyPr wrap="none" lIns="0" tIns="0" rIns="0" bIns="0" rtlCol="0" anchor="t">
            <a:spAutoFit/>
          </a:bodyPr>
          <a:lstStyle/>
          <a:p>
            <a:pPr algn="l" indent="0" marL="0">
              <a:lnSpc>
                <a:spcPts val="1500"/>
              </a:lnSpc>
              <a:buNone/>
            </a:pPr>
            <a:r>
              <a:rPr lang="en-US" sz="987" b="1" dirty="0">
                <a:solidFill>
                  <a:srgbClr val="1A1A1A"/>
                </a:solidFill>
                <a:latin typeface="Playfair Display" pitchFamily="34" charset="0"/>
                <a:ea typeface="Playfair Display" pitchFamily="34" charset="-122"/>
                <a:cs typeface="Playfair Display" pitchFamily="34" charset="-120"/>
              </a:rPr>
              <a:t>Requirements &amp; Design</a:t>
            </a:r>
            <a:endParaRPr lang="en-US" sz="987" dirty="0"/>
          </a:p>
        </p:txBody>
      </p:sp>
      <p:pic>
        <p:nvPicPr>
          <p:cNvPr id="10" name="Image 1" descr="preencoded.png">    </p:cNvPr>
          <p:cNvPicPr>
            <a:picLocks noChangeAspect="1"/>
          </p:cNvPicPr>
          <p:nvPr/>
        </p:nvPicPr>
        <p:blipFill>
          <a:blip r:embed="rId2"/>
          <a:stretch>
            <a:fillRect/>
          </a:stretch>
        </p:blipFill>
        <p:spPr>
          <a:xfrm>
            <a:off x="571500" y="2525316"/>
            <a:ext cx="107156" cy="100013"/>
          </a:xfrm>
          <a:prstGeom prst="rect">
            <a:avLst/>
          </a:prstGeom>
        </p:spPr>
      </p:pic>
      <p:sp>
        <p:nvSpPr>
          <p:cNvPr id="11" name="Text 7"/>
          <p:cNvSpPr/>
          <p:nvPr/>
        </p:nvSpPr>
        <p:spPr>
          <a:xfrm>
            <a:off x="678656" y="2516386"/>
            <a:ext cx="425053"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4841"/>
                </a:solidFill>
                <a:latin typeface="Inter" pitchFamily="34" charset="0"/>
                <a:ea typeface="Inter" pitchFamily="34" charset="-122"/>
                <a:cs typeface="Inter" pitchFamily="34" charset="-120"/>
              </a:rPr>
              <a:t>45 MIN</a:t>
            </a:r>
            <a:endParaRPr lang="en-US" sz="683" dirty="0"/>
          </a:p>
        </p:txBody>
      </p:sp>
      <p:sp>
        <p:nvSpPr>
          <p:cNvPr id="12" name="Text 8"/>
          <p:cNvSpPr/>
          <p:nvPr/>
        </p:nvSpPr>
        <p:spPr>
          <a:xfrm>
            <a:off x="571500" y="2780705"/>
            <a:ext cx="1760209" cy="150019"/>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1A1A1A"/>
                </a:solidFill>
                <a:latin typeface="Inter" pitchFamily="34" charset="0"/>
                <a:ea typeface="Inter" pitchFamily="34" charset="-122"/>
                <a:cs typeface="Inter" pitchFamily="34" charset="-120"/>
              </a:rPr>
              <a:t>Deliverables:</a:t>
            </a:r>
            <a:endParaRPr lang="en-US" sz="683" dirty="0"/>
          </a:p>
        </p:txBody>
      </p:sp>
      <p:sp>
        <p:nvSpPr>
          <p:cNvPr id="13" name="Text 9"/>
          <p:cNvSpPr/>
          <p:nvPr/>
        </p:nvSpPr>
        <p:spPr>
          <a:xfrm>
            <a:off x="571500" y="2945011"/>
            <a:ext cx="1701998"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595959"/>
                </a:solidFill>
                <a:latin typeface="Inter" pitchFamily="34" charset="0"/>
                <a:ea typeface="Inter" pitchFamily="34" charset="-122"/>
                <a:cs typeface="Inter" pitchFamily="34" charset="-120"/>
              </a:rPr>
              <a:t>User Stories, Traceability Matrix, ER</a:t>
            </a:r>
            <a:endParaRPr lang="en-US" sz="727" dirty="0"/>
          </a:p>
        </p:txBody>
      </p:sp>
      <p:sp>
        <p:nvSpPr>
          <p:cNvPr id="14" name="Text 10"/>
          <p:cNvSpPr/>
          <p:nvPr/>
        </p:nvSpPr>
        <p:spPr>
          <a:xfrm>
            <a:off x="571500" y="3095030"/>
            <a:ext cx="392906"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595959"/>
                </a:solidFill>
                <a:latin typeface="Inter" pitchFamily="34" charset="0"/>
                <a:ea typeface="Inter" pitchFamily="34" charset="-122"/>
                <a:cs typeface="Inter" pitchFamily="34" charset="-120"/>
              </a:rPr>
              <a:t>Diagram</a:t>
            </a:r>
            <a:endParaRPr lang="en-US" sz="727" dirty="0"/>
          </a:p>
        </p:txBody>
      </p:sp>
      <p:sp>
        <p:nvSpPr>
          <p:cNvPr id="15" name="Text 11"/>
          <p:cNvSpPr/>
          <p:nvPr/>
        </p:nvSpPr>
        <p:spPr>
          <a:xfrm>
            <a:off x="571500" y="3287911"/>
            <a:ext cx="1760209" cy="150019"/>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1A1A1A"/>
                </a:solidFill>
                <a:latin typeface="Inter" pitchFamily="34" charset="0"/>
                <a:ea typeface="Inter" pitchFamily="34" charset="-122"/>
                <a:cs typeface="Inter" pitchFamily="34" charset="-120"/>
              </a:rPr>
              <a:t>AI Support:</a:t>
            </a:r>
            <a:endParaRPr lang="en-US" sz="683" dirty="0"/>
          </a:p>
        </p:txBody>
      </p:sp>
      <p:sp>
        <p:nvSpPr>
          <p:cNvPr id="16" name="Text 12"/>
          <p:cNvSpPr/>
          <p:nvPr/>
        </p:nvSpPr>
        <p:spPr>
          <a:xfrm>
            <a:off x="571500" y="3452217"/>
            <a:ext cx="1273373"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595959"/>
                </a:solidFill>
                <a:latin typeface="Inter" pitchFamily="34" charset="0"/>
                <a:ea typeface="Inter" pitchFamily="34" charset="-122"/>
                <a:cs typeface="Inter" pitchFamily="34" charset="-120"/>
              </a:rPr>
              <a:t>Prompt Engineering Agent,</a:t>
            </a:r>
            <a:endParaRPr lang="en-US" sz="727" dirty="0"/>
          </a:p>
        </p:txBody>
      </p:sp>
      <p:sp>
        <p:nvSpPr>
          <p:cNvPr id="17" name="Text 13"/>
          <p:cNvSpPr/>
          <p:nvPr/>
        </p:nvSpPr>
        <p:spPr>
          <a:xfrm>
            <a:off x="571500" y="3602236"/>
            <a:ext cx="525066"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595959"/>
                </a:solidFill>
                <a:latin typeface="Inter" pitchFamily="34" charset="0"/>
                <a:ea typeface="Inter" pitchFamily="34" charset="-122"/>
                <a:cs typeface="Inter" pitchFamily="34" charset="-120"/>
              </a:rPr>
              <a:t>Mermaid.js</a:t>
            </a:r>
            <a:endParaRPr lang="en-US" sz="727" dirty="0"/>
          </a:p>
        </p:txBody>
      </p:sp>
      <p:sp>
        <p:nvSpPr>
          <p:cNvPr id="18" name="Shape 14"/>
          <p:cNvSpPr/>
          <p:nvPr/>
        </p:nvSpPr>
        <p:spPr>
          <a:xfrm>
            <a:off x="2651754" y="1830586"/>
            <a:ext cx="342900" cy="342900"/>
          </a:xfrm>
          <a:prstGeom prst="ellipse">
            <a:avLst/>
          </a:prstGeom>
          <a:solidFill>
            <a:srgbClr val="1A1A1A"/>
          </a:solidFill>
          <a:ln w="27432">
            <a:solidFill>
              <a:srgbClr val="FAFAFA"/>
            </a:solidFill>
            <a:prstDash val="solid"/>
          </a:ln>
        </p:spPr>
      </p:sp>
      <p:sp>
        <p:nvSpPr>
          <p:cNvPr id="19" name="Text 15"/>
          <p:cNvSpPr/>
          <p:nvPr/>
        </p:nvSpPr>
        <p:spPr>
          <a:xfrm>
            <a:off x="2651754" y="1830586"/>
            <a:ext cx="342900" cy="342900"/>
          </a:xfrm>
          <a:prstGeom prst="rect">
            <a:avLst/>
          </a:prstGeom>
          <a:noFill/>
          <a:ln/>
        </p:spPr>
        <p:txBody>
          <a:bodyPr wrap="square" lIns="0" tIns="0" rIns="0" bIns="0" rtlCol="0" anchor="ctr">
            <a:spAutoFit/>
          </a:bodyPr>
          <a:lstStyle/>
          <a:p>
            <a:pPr algn="ctr" indent="0" marL="0">
              <a:lnSpc>
                <a:spcPts val="1600"/>
              </a:lnSpc>
              <a:buNone/>
            </a:pPr>
            <a:r>
              <a:rPr lang="en-US" sz="1193" b="1" dirty="0">
                <a:solidFill>
                  <a:srgbClr val="F2C94C"/>
                </a:solidFill>
                <a:latin typeface="Playfair Display" pitchFamily="34" charset="0"/>
                <a:ea typeface="Playfair Display" pitchFamily="34" charset="-122"/>
                <a:cs typeface="Playfair Display" pitchFamily="34" charset="-120"/>
              </a:rPr>
              <a:t>2</a:t>
            </a:r>
            <a:endParaRPr lang="en-US" sz="1193" dirty="0"/>
          </a:p>
        </p:txBody>
      </p:sp>
      <p:sp>
        <p:nvSpPr>
          <p:cNvPr id="20" name="Text 16"/>
          <p:cNvSpPr/>
          <p:nvPr/>
        </p:nvSpPr>
        <p:spPr>
          <a:xfrm>
            <a:off x="2651754" y="2287786"/>
            <a:ext cx="1760209" cy="185738"/>
          </a:xfrm>
          <a:prstGeom prst="rect">
            <a:avLst/>
          </a:prstGeom>
          <a:noFill/>
          <a:ln/>
        </p:spPr>
        <p:txBody>
          <a:bodyPr wrap="none" lIns="0" tIns="0" rIns="0" bIns="0" rtlCol="0" anchor="t">
            <a:spAutoFit/>
          </a:bodyPr>
          <a:lstStyle/>
          <a:p>
            <a:pPr algn="l" indent="0" marL="0">
              <a:lnSpc>
                <a:spcPts val="1500"/>
              </a:lnSpc>
              <a:buNone/>
            </a:pPr>
            <a:r>
              <a:rPr lang="en-US" sz="987" b="1" dirty="0">
                <a:solidFill>
                  <a:srgbClr val="1A1A1A"/>
                </a:solidFill>
                <a:latin typeface="Playfair Display" pitchFamily="34" charset="0"/>
                <a:ea typeface="Playfair Display" pitchFamily="34" charset="-122"/>
                <a:cs typeface="Playfair Display" pitchFamily="34" charset="-120"/>
              </a:rPr>
              <a:t>Backend Development</a:t>
            </a:r>
            <a:endParaRPr lang="en-US" sz="987" dirty="0"/>
          </a:p>
        </p:txBody>
      </p:sp>
      <p:pic>
        <p:nvPicPr>
          <p:cNvPr id="21" name="Image 2" descr="preencoded.png">    </p:cNvPr>
          <p:cNvPicPr>
            <a:picLocks noChangeAspect="1"/>
          </p:cNvPicPr>
          <p:nvPr/>
        </p:nvPicPr>
        <p:blipFill>
          <a:blip r:embed="rId3"/>
          <a:stretch>
            <a:fillRect/>
          </a:stretch>
        </p:blipFill>
        <p:spPr>
          <a:xfrm>
            <a:off x="2651754" y="2525316"/>
            <a:ext cx="107156" cy="100013"/>
          </a:xfrm>
          <a:prstGeom prst="rect">
            <a:avLst/>
          </a:prstGeom>
        </p:spPr>
      </p:pic>
      <p:sp>
        <p:nvSpPr>
          <p:cNvPr id="22" name="Text 17"/>
          <p:cNvSpPr/>
          <p:nvPr/>
        </p:nvSpPr>
        <p:spPr>
          <a:xfrm>
            <a:off x="2758911" y="2516386"/>
            <a:ext cx="428625"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4841"/>
                </a:solidFill>
                <a:latin typeface="Inter" pitchFamily="34" charset="0"/>
                <a:ea typeface="Inter" pitchFamily="34" charset="-122"/>
                <a:cs typeface="Inter" pitchFamily="34" charset="-120"/>
              </a:rPr>
              <a:t>90 MIN</a:t>
            </a:r>
            <a:endParaRPr lang="en-US" sz="683" dirty="0"/>
          </a:p>
        </p:txBody>
      </p:sp>
      <p:sp>
        <p:nvSpPr>
          <p:cNvPr id="23" name="Text 18"/>
          <p:cNvSpPr/>
          <p:nvPr/>
        </p:nvSpPr>
        <p:spPr>
          <a:xfrm>
            <a:off x="2651754" y="2780705"/>
            <a:ext cx="1760209" cy="150019"/>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1A1A1A"/>
                </a:solidFill>
                <a:latin typeface="Inter" pitchFamily="34" charset="0"/>
                <a:ea typeface="Inter" pitchFamily="34" charset="-122"/>
                <a:cs typeface="Inter" pitchFamily="34" charset="-120"/>
              </a:rPr>
              <a:t>Deliverables:</a:t>
            </a:r>
            <a:endParaRPr lang="en-US" sz="683" dirty="0"/>
          </a:p>
        </p:txBody>
      </p:sp>
      <p:sp>
        <p:nvSpPr>
          <p:cNvPr id="24" name="Text 19"/>
          <p:cNvSpPr/>
          <p:nvPr/>
        </p:nvSpPr>
        <p:spPr>
          <a:xfrm>
            <a:off x="2651754" y="2945011"/>
            <a:ext cx="1566267"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595959"/>
                </a:solidFill>
                <a:latin typeface="Inter" pitchFamily="34" charset="0"/>
                <a:ea typeface="Inter" pitchFamily="34" charset="-122"/>
                <a:cs typeface="Inter" pitchFamily="34" charset="-120"/>
              </a:rPr>
              <a:t>FastAPI Rule Engine, PostgreSQL</a:t>
            </a:r>
            <a:endParaRPr lang="en-US" sz="727" dirty="0"/>
          </a:p>
        </p:txBody>
      </p:sp>
      <p:sp>
        <p:nvSpPr>
          <p:cNvPr id="25" name="Text 20"/>
          <p:cNvSpPr/>
          <p:nvPr/>
        </p:nvSpPr>
        <p:spPr>
          <a:xfrm>
            <a:off x="2651754" y="3095030"/>
            <a:ext cx="1178719"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595959"/>
                </a:solidFill>
                <a:latin typeface="Inter" pitchFamily="34" charset="0"/>
                <a:ea typeface="Inter" pitchFamily="34" charset="-122"/>
                <a:cs typeface="Inter" pitchFamily="34" charset="-120"/>
              </a:rPr>
              <a:t>schema, REST endpoints</a:t>
            </a:r>
            <a:endParaRPr lang="en-US" sz="727" dirty="0"/>
          </a:p>
        </p:txBody>
      </p:sp>
      <p:sp>
        <p:nvSpPr>
          <p:cNvPr id="26" name="Text 21"/>
          <p:cNvSpPr/>
          <p:nvPr/>
        </p:nvSpPr>
        <p:spPr>
          <a:xfrm>
            <a:off x="2651754" y="3287911"/>
            <a:ext cx="1760209" cy="150019"/>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1A1A1A"/>
                </a:solidFill>
                <a:latin typeface="Inter" pitchFamily="34" charset="0"/>
                <a:ea typeface="Inter" pitchFamily="34" charset="-122"/>
                <a:cs typeface="Inter" pitchFamily="34" charset="-120"/>
              </a:rPr>
              <a:t>AI Support:</a:t>
            </a:r>
            <a:endParaRPr lang="en-US" sz="683" dirty="0"/>
          </a:p>
        </p:txBody>
      </p:sp>
      <p:sp>
        <p:nvSpPr>
          <p:cNvPr id="27" name="Text 22"/>
          <p:cNvSpPr/>
          <p:nvPr/>
        </p:nvSpPr>
        <p:spPr>
          <a:xfrm>
            <a:off x="2651754" y="3452217"/>
            <a:ext cx="1107281"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595959"/>
                </a:solidFill>
                <a:latin typeface="Inter" pitchFamily="34" charset="0"/>
                <a:ea typeface="Inter" pitchFamily="34" charset="-122"/>
                <a:cs typeface="Inter" pitchFamily="34" charset="-120"/>
              </a:rPr>
              <a:t>GitHub Copilot / Cursor</a:t>
            </a:r>
            <a:endParaRPr lang="en-US" sz="727" dirty="0"/>
          </a:p>
        </p:txBody>
      </p:sp>
      <p:sp>
        <p:nvSpPr>
          <p:cNvPr id="28" name="Shape 23"/>
          <p:cNvSpPr/>
          <p:nvPr/>
        </p:nvSpPr>
        <p:spPr>
          <a:xfrm>
            <a:off x="4732009" y="1830586"/>
            <a:ext cx="342900" cy="342900"/>
          </a:xfrm>
          <a:prstGeom prst="ellipse">
            <a:avLst/>
          </a:prstGeom>
          <a:solidFill>
            <a:srgbClr val="1A1A1A"/>
          </a:solidFill>
          <a:ln w="27432">
            <a:solidFill>
              <a:srgbClr val="FAFAFA"/>
            </a:solidFill>
            <a:prstDash val="solid"/>
          </a:ln>
        </p:spPr>
      </p:sp>
      <p:sp>
        <p:nvSpPr>
          <p:cNvPr id="29" name="Text 24"/>
          <p:cNvSpPr/>
          <p:nvPr/>
        </p:nvSpPr>
        <p:spPr>
          <a:xfrm>
            <a:off x="4732009" y="1830586"/>
            <a:ext cx="342900" cy="342900"/>
          </a:xfrm>
          <a:prstGeom prst="rect">
            <a:avLst/>
          </a:prstGeom>
          <a:noFill/>
          <a:ln/>
        </p:spPr>
        <p:txBody>
          <a:bodyPr wrap="square" lIns="0" tIns="0" rIns="0" bIns="0" rtlCol="0" anchor="ctr">
            <a:spAutoFit/>
          </a:bodyPr>
          <a:lstStyle/>
          <a:p>
            <a:pPr algn="ctr" indent="0" marL="0">
              <a:lnSpc>
                <a:spcPts val="1600"/>
              </a:lnSpc>
              <a:buNone/>
            </a:pPr>
            <a:r>
              <a:rPr lang="en-US" sz="1193" b="1" dirty="0">
                <a:solidFill>
                  <a:srgbClr val="F2C94C"/>
                </a:solidFill>
                <a:latin typeface="Playfair Display" pitchFamily="34" charset="0"/>
                <a:ea typeface="Playfair Display" pitchFamily="34" charset="-122"/>
                <a:cs typeface="Playfair Display" pitchFamily="34" charset="-120"/>
              </a:rPr>
              <a:t>3</a:t>
            </a:r>
            <a:endParaRPr lang="en-US" sz="1193" dirty="0"/>
          </a:p>
        </p:txBody>
      </p:sp>
      <p:sp>
        <p:nvSpPr>
          <p:cNvPr id="30" name="Text 25"/>
          <p:cNvSpPr/>
          <p:nvPr/>
        </p:nvSpPr>
        <p:spPr>
          <a:xfrm>
            <a:off x="4732009" y="2287786"/>
            <a:ext cx="1760209" cy="185738"/>
          </a:xfrm>
          <a:prstGeom prst="rect">
            <a:avLst/>
          </a:prstGeom>
          <a:noFill/>
          <a:ln/>
        </p:spPr>
        <p:txBody>
          <a:bodyPr wrap="none" lIns="0" tIns="0" rIns="0" bIns="0" rtlCol="0" anchor="t">
            <a:spAutoFit/>
          </a:bodyPr>
          <a:lstStyle/>
          <a:p>
            <a:pPr algn="l" indent="0" marL="0">
              <a:lnSpc>
                <a:spcPts val="1500"/>
              </a:lnSpc>
              <a:buNone/>
            </a:pPr>
            <a:r>
              <a:rPr lang="en-US" sz="987" b="1" dirty="0">
                <a:solidFill>
                  <a:srgbClr val="1A1A1A"/>
                </a:solidFill>
                <a:latin typeface="Playfair Display" pitchFamily="34" charset="0"/>
                <a:ea typeface="Playfair Display" pitchFamily="34" charset="-122"/>
                <a:cs typeface="Playfair Display" pitchFamily="34" charset="-120"/>
              </a:rPr>
              <a:t>Frontend Development</a:t>
            </a:r>
            <a:endParaRPr lang="en-US" sz="987" dirty="0"/>
          </a:p>
        </p:txBody>
      </p:sp>
      <p:pic>
        <p:nvPicPr>
          <p:cNvPr id="31" name="Image 3" descr="preencoded.png">    </p:cNvPr>
          <p:cNvPicPr>
            <a:picLocks noChangeAspect="1"/>
          </p:cNvPicPr>
          <p:nvPr/>
        </p:nvPicPr>
        <p:blipFill>
          <a:blip r:embed="rId4"/>
          <a:stretch>
            <a:fillRect/>
          </a:stretch>
        </p:blipFill>
        <p:spPr>
          <a:xfrm>
            <a:off x="4732009" y="2525316"/>
            <a:ext cx="107156" cy="100013"/>
          </a:xfrm>
          <a:prstGeom prst="rect">
            <a:avLst/>
          </a:prstGeom>
        </p:spPr>
      </p:pic>
      <p:sp>
        <p:nvSpPr>
          <p:cNvPr id="32" name="Text 26"/>
          <p:cNvSpPr/>
          <p:nvPr/>
        </p:nvSpPr>
        <p:spPr>
          <a:xfrm>
            <a:off x="4839165" y="2516386"/>
            <a:ext cx="428625"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4841"/>
                </a:solidFill>
                <a:latin typeface="Inter" pitchFamily="34" charset="0"/>
                <a:ea typeface="Inter" pitchFamily="34" charset="-122"/>
                <a:cs typeface="Inter" pitchFamily="34" charset="-120"/>
              </a:rPr>
              <a:t>60 MIN</a:t>
            </a:r>
            <a:endParaRPr lang="en-US" sz="683" dirty="0"/>
          </a:p>
        </p:txBody>
      </p:sp>
      <p:sp>
        <p:nvSpPr>
          <p:cNvPr id="33" name="Text 27"/>
          <p:cNvSpPr/>
          <p:nvPr/>
        </p:nvSpPr>
        <p:spPr>
          <a:xfrm>
            <a:off x="4732009" y="2780705"/>
            <a:ext cx="1760209" cy="150019"/>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1A1A1A"/>
                </a:solidFill>
                <a:latin typeface="Inter" pitchFamily="34" charset="0"/>
                <a:ea typeface="Inter" pitchFamily="34" charset="-122"/>
                <a:cs typeface="Inter" pitchFamily="34" charset="-120"/>
              </a:rPr>
              <a:t>Deliverables:</a:t>
            </a:r>
            <a:endParaRPr lang="en-US" sz="683" dirty="0"/>
          </a:p>
        </p:txBody>
      </p:sp>
      <p:sp>
        <p:nvSpPr>
          <p:cNvPr id="34" name="Text 28"/>
          <p:cNvSpPr/>
          <p:nvPr/>
        </p:nvSpPr>
        <p:spPr>
          <a:xfrm>
            <a:off x="4732009" y="2945011"/>
            <a:ext cx="1507331"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595959"/>
                </a:solidFill>
                <a:latin typeface="Inter" pitchFamily="34" charset="0"/>
                <a:ea typeface="Inter" pitchFamily="34" charset="-122"/>
                <a:cs typeface="Inter" pitchFamily="34" charset="-120"/>
              </a:rPr>
              <a:t>React/Streamlit Dashboard, Tier</a:t>
            </a:r>
            <a:endParaRPr lang="en-US" sz="727" dirty="0"/>
          </a:p>
        </p:txBody>
      </p:sp>
      <p:sp>
        <p:nvSpPr>
          <p:cNvPr id="35" name="Text 29"/>
          <p:cNvSpPr/>
          <p:nvPr/>
        </p:nvSpPr>
        <p:spPr>
          <a:xfrm>
            <a:off x="4732009" y="3095030"/>
            <a:ext cx="934045"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595959"/>
                </a:solidFill>
                <a:latin typeface="Inter" pitchFamily="34" charset="0"/>
                <a:ea typeface="Inter" pitchFamily="34" charset="-122"/>
                <a:cs typeface="Inter" pitchFamily="34" charset="-120"/>
              </a:rPr>
              <a:t>visualization, Filters</a:t>
            </a:r>
            <a:endParaRPr lang="en-US" sz="727" dirty="0"/>
          </a:p>
        </p:txBody>
      </p:sp>
      <p:sp>
        <p:nvSpPr>
          <p:cNvPr id="36" name="Text 30"/>
          <p:cNvSpPr/>
          <p:nvPr/>
        </p:nvSpPr>
        <p:spPr>
          <a:xfrm>
            <a:off x="4732009" y="3287911"/>
            <a:ext cx="1760209" cy="150019"/>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1A1A1A"/>
                </a:solidFill>
                <a:latin typeface="Inter" pitchFamily="34" charset="0"/>
                <a:ea typeface="Inter" pitchFamily="34" charset="-122"/>
                <a:cs typeface="Inter" pitchFamily="34" charset="-120"/>
              </a:rPr>
              <a:t>AI Support:</a:t>
            </a:r>
            <a:endParaRPr lang="en-US" sz="683" dirty="0"/>
          </a:p>
        </p:txBody>
      </p:sp>
      <p:sp>
        <p:nvSpPr>
          <p:cNvPr id="37" name="Text 31"/>
          <p:cNvSpPr/>
          <p:nvPr/>
        </p:nvSpPr>
        <p:spPr>
          <a:xfrm>
            <a:off x="4732009" y="3452217"/>
            <a:ext cx="1107281"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595959"/>
                </a:solidFill>
                <a:latin typeface="Inter" pitchFamily="34" charset="0"/>
                <a:ea typeface="Inter" pitchFamily="34" charset="-122"/>
                <a:cs typeface="Inter" pitchFamily="34" charset="-120"/>
              </a:rPr>
              <a:t>GitHub Copilot / Cursor</a:t>
            </a:r>
            <a:endParaRPr lang="en-US" sz="727" dirty="0"/>
          </a:p>
        </p:txBody>
      </p:sp>
      <p:sp>
        <p:nvSpPr>
          <p:cNvPr id="38" name="Shape 32"/>
          <p:cNvSpPr/>
          <p:nvPr/>
        </p:nvSpPr>
        <p:spPr>
          <a:xfrm>
            <a:off x="6812263" y="1830586"/>
            <a:ext cx="342900" cy="342900"/>
          </a:xfrm>
          <a:prstGeom prst="ellipse">
            <a:avLst/>
          </a:prstGeom>
          <a:solidFill>
            <a:srgbClr val="1A1A1A"/>
          </a:solidFill>
          <a:ln w="27432">
            <a:solidFill>
              <a:srgbClr val="FAFAFA"/>
            </a:solidFill>
            <a:prstDash val="solid"/>
          </a:ln>
        </p:spPr>
      </p:sp>
      <p:sp>
        <p:nvSpPr>
          <p:cNvPr id="39" name="Text 33"/>
          <p:cNvSpPr/>
          <p:nvPr/>
        </p:nvSpPr>
        <p:spPr>
          <a:xfrm>
            <a:off x="6812263" y="1830586"/>
            <a:ext cx="342900" cy="342900"/>
          </a:xfrm>
          <a:prstGeom prst="rect">
            <a:avLst/>
          </a:prstGeom>
          <a:noFill/>
          <a:ln/>
        </p:spPr>
        <p:txBody>
          <a:bodyPr wrap="square" lIns="0" tIns="0" rIns="0" bIns="0" rtlCol="0" anchor="ctr">
            <a:spAutoFit/>
          </a:bodyPr>
          <a:lstStyle/>
          <a:p>
            <a:pPr algn="ctr" indent="0" marL="0">
              <a:lnSpc>
                <a:spcPts val="1600"/>
              </a:lnSpc>
              <a:buNone/>
            </a:pPr>
            <a:r>
              <a:rPr lang="en-US" sz="1193" b="1" dirty="0">
                <a:solidFill>
                  <a:srgbClr val="F2C94C"/>
                </a:solidFill>
                <a:latin typeface="Playfair Display" pitchFamily="34" charset="0"/>
                <a:ea typeface="Playfair Display" pitchFamily="34" charset="-122"/>
                <a:cs typeface="Playfair Display" pitchFamily="34" charset="-120"/>
              </a:rPr>
              <a:t>4</a:t>
            </a:r>
            <a:endParaRPr lang="en-US" sz="1193" dirty="0"/>
          </a:p>
        </p:txBody>
      </p:sp>
      <p:sp>
        <p:nvSpPr>
          <p:cNvPr id="40" name="Text 34"/>
          <p:cNvSpPr/>
          <p:nvPr/>
        </p:nvSpPr>
        <p:spPr>
          <a:xfrm>
            <a:off x="6812263" y="2287786"/>
            <a:ext cx="1760209" cy="185738"/>
          </a:xfrm>
          <a:prstGeom prst="rect">
            <a:avLst/>
          </a:prstGeom>
          <a:noFill/>
          <a:ln/>
        </p:spPr>
        <p:txBody>
          <a:bodyPr wrap="none" lIns="0" tIns="0" rIns="0" bIns="0" rtlCol="0" anchor="t">
            <a:spAutoFit/>
          </a:bodyPr>
          <a:lstStyle/>
          <a:p>
            <a:pPr algn="l" indent="0" marL="0">
              <a:lnSpc>
                <a:spcPts val="1500"/>
              </a:lnSpc>
              <a:buNone/>
            </a:pPr>
            <a:r>
              <a:rPr lang="en-US" sz="987" b="1" dirty="0">
                <a:solidFill>
                  <a:srgbClr val="1A1A1A"/>
                </a:solidFill>
                <a:latin typeface="Playfair Display" pitchFamily="34" charset="0"/>
                <a:ea typeface="Playfair Display" pitchFamily="34" charset="-122"/>
                <a:cs typeface="Playfair Display" pitchFamily="34" charset="-120"/>
              </a:rPr>
              <a:t>QA &amp; Deployment</a:t>
            </a:r>
            <a:endParaRPr lang="en-US" sz="987" dirty="0"/>
          </a:p>
        </p:txBody>
      </p:sp>
      <p:pic>
        <p:nvPicPr>
          <p:cNvPr id="41" name="Image 4" descr="preencoded.png">    </p:cNvPr>
          <p:cNvPicPr>
            <a:picLocks noChangeAspect="1"/>
          </p:cNvPicPr>
          <p:nvPr/>
        </p:nvPicPr>
        <p:blipFill>
          <a:blip r:embed="rId5"/>
          <a:stretch>
            <a:fillRect/>
          </a:stretch>
        </p:blipFill>
        <p:spPr>
          <a:xfrm>
            <a:off x="6812263" y="2525316"/>
            <a:ext cx="107156" cy="100013"/>
          </a:xfrm>
          <a:prstGeom prst="rect">
            <a:avLst/>
          </a:prstGeom>
        </p:spPr>
      </p:pic>
      <p:sp>
        <p:nvSpPr>
          <p:cNvPr id="42" name="Text 35"/>
          <p:cNvSpPr/>
          <p:nvPr/>
        </p:nvSpPr>
        <p:spPr>
          <a:xfrm>
            <a:off x="6919420" y="2516386"/>
            <a:ext cx="425053"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4841"/>
                </a:solidFill>
                <a:latin typeface="Inter" pitchFamily="34" charset="0"/>
                <a:ea typeface="Inter" pitchFamily="34" charset="-122"/>
                <a:cs typeface="Inter" pitchFamily="34" charset="-120"/>
              </a:rPr>
              <a:t>45 MIN</a:t>
            </a:r>
            <a:endParaRPr lang="en-US" sz="683" dirty="0"/>
          </a:p>
        </p:txBody>
      </p:sp>
      <p:sp>
        <p:nvSpPr>
          <p:cNvPr id="43" name="Text 36"/>
          <p:cNvSpPr/>
          <p:nvPr/>
        </p:nvSpPr>
        <p:spPr>
          <a:xfrm>
            <a:off x="6812263" y="2780705"/>
            <a:ext cx="1760209" cy="150019"/>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1A1A1A"/>
                </a:solidFill>
                <a:latin typeface="Inter" pitchFamily="34" charset="0"/>
                <a:ea typeface="Inter" pitchFamily="34" charset="-122"/>
                <a:cs typeface="Inter" pitchFamily="34" charset="-120"/>
              </a:rPr>
              <a:t>Deliverables:</a:t>
            </a:r>
            <a:endParaRPr lang="en-US" sz="683" dirty="0"/>
          </a:p>
        </p:txBody>
      </p:sp>
      <p:sp>
        <p:nvSpPr>
          <p:cNvPr id="44" name="Text 37"/>
          <p:cNvSpPr/>
          <p:nvPr/>
        </p:nvSpPr>
        <p:spPr>
          <a:xfrm>
            <a:off x="6812263" y="2945011"/>
            <a:ext cx="1564481"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595959"/>
                </a:solidFill>
                <a:latin typeface="Inter" pitchFamily="34" charset="0"/>
                <a:ea typeface="Inter" pitchFamily="34" charset="-122"/>
                <a:cs typeface="Inter" pitchFamily="34" charset="-120"/>
              </a:rPr>
              <a:t>Code review report, Deployment,</a:t>
            </a:r>
            <a:endParaRPr lang="en-US" sz="727" dirty="0"/>
          </a:p>
        </p:txBody>
      </p:sp>
      <p:sp>
        <p:nvSpPr>
          <p:cNvPr id="45" name="Text 38"/>
          <p:cNvSpPr/>
          <p:nvPr/>
        </p:nvSpPr>
        <p:spPr>
          <a:xfrm>
            <a:off x="6812263" y="3095030"/>
            <a:ext cx="278606"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595959"/>
                </a:solidFill>
                <a:latin typeface="Inter" pitchFamily="34" charset="0"/>
                <a:ea typeface="Inter" pitchFamily="34" charset="-122"/>
                <a:cs typeface="Inter" pitchFamily="34" charset="-120"/>
              </a:rPr>
              <a:t>Demo</a:t>
            </a:r>
            <a:endParaRPr lang="en-US" sz="727" dirty="0"/>
          </a:p>
        </p:txBody>
      </p:sp>
      <p:sp>
        <p:nvSpPr>
          <p:cNvPr id="46" name="Text 39"/>
          <p:cNvSpPr/>
          <p:nvPr/>
        </p:nvSpPr>
        <p:spPr>
          <a:xfrm>
            <a:off x="6812263" y="3287911"/>
            <a:ext cx="1760209" cy="150019"/>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1A1A1A"/>
                </a:solidFill>
                <a:latin typeface="Inter" pitchFamily="34" charset="0"/>
                <a:ea typeface="Inter" pitchFamily="34" charset="-122"/>
                <a:cs typeface="Inter" pitchFamily="34" charset="-120"/>
              </a:rPr>
              <a:t>AI Support:</a:t>
            </a:r>
            <a:endParaRPr lang="en-US" sz="683" dirty="0"/>
          </a:p>
        </p:txBody>
      </p:sp>
      <p:sp>
        <p:nvSpPr>
          <p:cNvPr id="47" name="Text 40"/>
          <p:cNvSpPr/>
          <p:nvPr/>
        </p:nvSpPr>
        <p:spPr>
          <a:xfrm>
            <a:off x="6812263" y="3452217"/>
            <a:ext cx="1484114" cy="121444"/>
          </a:xfrm>
          <a:prstGeom prst="rect">
            <a:avLst/>
          </a:prstGeom>
          <a:noFill/>
          <a:ln/>
        </p:spPr>
        <p:txBody>
          <a:bodyPr wrap="none" lIns="0" tIns="0" rIns="0" bIns="0" rtlCol="0" anchor="t">
            <a:spAutoFit/>
          </a:bodyPr>
          <a:lstStyle/>
          <a:p>
            <a:pPr algn="l" indent="0" marL="0">
              <a:lnSpc>
                <a:spcPts val="1200"/>
              </a:lnSpc>
              <a:buNone/>
            </a:pPr>
            <a:r>
              <a:rPr lang="en-US" sz="727" dirty="0">
                <a:solidFill>
                  <a:srgbClr val="595959"/>
                </a:solidFill>
                <a:latin typeface="Inter" pitchFamily="34" charset="0"/>
                <a:ea typeface="Inter" pitchFamily="34" charset="-122"/>
                <a:cs typeface="Inter" pitchFamily="34" charset="-120"/>
              </a:rPr>
              <a:t>Custom LangChain AI Reviewer</a:t>
            </a:r>
            <a:endParaRPr lang="en-US" sz="727" dirty="0"/>
          </a:p>
        </p:txBody>
      </p:sp>
      <p:sp>
        <p:nvSpPr>
          <p:cNvPr id="48" name="Shape 41"/>
          <p:cNvSpPr/>
          <p:nvPr/>
        </p:nvSpPr>
        <p:spPr>
          <a:xfrm>
            <a:off x="571500" y="4050506"/>
            <a:ext cx="8001000" cy="1092994"/>
          </a:xfrm>
          <a:prstGeom prst="rect">
            <a:avLst/>
          </a:prstGeom>
          <a:solidFill>
            <a:srgbClr val="1A1A1A"/>
          </a:solidFill>
          <a:ln/>
        </p:spPr>
      </p:sp>
      <p:sp>
        <p:nvSpPr>
          <p:cNvPr id="49" name="Text 42"/>
          <p:cNvSpPr/>
          <p:nvPr/>
        </p:nvSpPr>
        <p:spPr>
          <a:xfrm>
            <a:off x="828675" y="4221956"/>
            <a:ext cx="1285875" cy="750094"/>
          </a:xfrm>
          <a:prstGeom prst="rect">
            <a:avLst/>
          </a:prstGeom>
          <a:noFill/>
          <a:ln/>
        </p:spPr>
        <p:txBody>
          <a:bodyPr wrap="square" lIns="0" tIns="0" rIns="0" bIns="0" rtlCol="0" anchor="t">
            <a:spAutoFit/>
          </a:bodyPr>
          <a:lstStyle/>
          <a:p>
            <a:pPr algn="l" indent="0" marL="0">
              <a:lnSpc>
                <a:spcPts val="1900"/>
              </a:lnSpc>
              <a:buNone/>
            </a:pPr>
            <a:r>
              <a:rPr lang="en-US" sz="1397" b="1" dirty="0">
                <a:solidFill>
                  <a:srgbClr val="F2C94C"/>
                </a:solidFill>
                <a:latin typeface="Playfair Display" pitchFamily="34" charset="0"/>
                <a:ea typeface="Playfair Display" pitchFamily="34" charset="-122"/>
                <a:cs typeface="Playfair Display" pitchFamily="34" charset="-120"/>
              </a:rPr>
              <a:t>Success Criteria</a:t>
            </a:r>
            <a:endParaRPr lang="en-US" sz="1397" dirty="0"/>
          </a:p>
        </p:txBody>
      </p:sp>
      <p:pic>
        <p:nvPicPr>
          <p:cNvPr id="50" name="Image 5" descr="preencoded.png">    </p:cNvPr>
          <p:cNvPicPr>
            <a:picLocks noChangeAspect="1"/>
          </p:cNvPicPr>
          <p:nvPr/>
        </p:nvPicPr>
        <p:blipFill>
          <a:blip r:embed="rId6"/>
          <a:stretch>
            <a:fillRect/>
          </a:stretch>
        </p:blipFill>
        <p:spPr>
          <a:xfrm>
            <a:off x="2343150" y="4236244"/>
            <a:ext cx="142875" cy="142875"/>
          </a:xfrm>
          <a:prstGeom prst="rect">
            <a:avLst/>
          </a:prstGeom>
        </p:spPr>
      </p:pic>
      <p:sp>
        <p:nvSpPr>
          <p:cNvPr id="51" name="Text 43"/>
          <p:cNvSpPr/>
          <p:nvPr/>
        </p:nvSpPr>
        <p:spPr>
          <a:xfrm>
            <a:off x="2571750" y="4221956"/>
            <a:ext cx="4011216" cy="192881"/>
          </a:xfrm>
          <a:prstGeom prst="rect">
            <a:avLst/>
          </a:prstGeom>
          <a:noFill/>
          <a:ln/>
        </p:spPr>
        <p:txBody>
          <a:bodyPr wrap="none" lIns="0" tIns="0" rIns="0" bIns="0" rtlCol="0" anchor="t">
            <a:spAutoFit/>
          </a:bodyPr>
          <a:lstStyle/>
          <a:p>
            <a:pPr algn="l" indent="0" marL="0">
              <a:lnSpc>
                <a:spcPts val="1500"/>
              </a:lnSpc>
              <a:buNone/>
            </a:pPr>
            <a:r>
              <a:rPr lang="en-US" sz="942" dirty="0">
                <a:solidFill>
                  <a:srgbClr val="FAFAFA"/>
                </a:solidFill>
                <a:latin typeface="Inter" pitchFamily="34" charset="0"/>
                <a:ea typeface="Inter" pitchFamily="34" charset="-122"/>
                <a:cs typeface="Inter" pitchFamily="34" charset="-120"/>
              </a:rPr>
              <a:t>All three urgency tiers correctly classified against test patient data</a:t>
            </a:r>
            <a:endParaRPr lang="en-US" sz="942" dirty="0"/>
          </a:p>
        </p:txBody>
      </p:sp>
      <p:pic>
        <p:nvPicPr>
          <p:cNvPr id="52" name="Image 6" descr="preencoded.png">    </p:cNvPr>
          <p:cNvPicPr>
            <a:picLocks noChangeAspect="1"/>
          </p:cNvPicPr>
          <p:nvPr/>
        </p:nvPicPr>
        <p:blipFill>
          <a:blip r:embed="rId7"/>
          <a:stretch>
            <a:fillRect/>
          </a:stretch>
        </p:blipFill>
        <p:spPr>
          <a:xfrm>
            <a:off x="2343150" y="4514850"/>
            <a:ext cx="142875" cy="142875"/>
          </a:xfrm>
          <a:prstGeom prst="rect">
            <a:avLst/>
          </a:prstGeom>
        </p:spPr>
      </p:pic>
      <p:sp>
        <p:nvSpPr>
          <p:cNvPr id="53" name="Text 44"/>
          <p:cNvSpPr/>
          <p:nvPr/>
        </p:nvSpPr>
        <p:spPr>
          <a:xfrm>
            <a:off x="2571750" y="4500563"/>
            <a:ext cx="4111228" cy="192881"/>
          </a:xfrm>
          <a:prstGeom prst="rect">
            <a:avLst/>
          </a:prstGeom>
          <a:noFill/>
          <a:ln/>
        </p:spPr>
        <p:txBody>
          <a:bodyPr wrap="none" lIns="0" tIns="0" rIns="0" bIns="0" rtlCol="0" anchor="t">
            <a:spAutoFit/>
          </a:bodyPr>
          <a:lstStyle/>
          <a:p>
            <a:pPr algn="l" indent="0" marL="0">
              <a:lnSpc>
                <a:spcPts val="1500"/>
              </a:lnSpc>
              <a:buNone/>
            </a:pPr>
            <a:r>
              <a:rPr lang="en-US" sz="942" dirty="0">
                <a:solidFill>
                  <a:srgbClr val="FAFAFA"/>
                </a:solidFill>
                <a:latin typeface="Inter" pitchFamily="34" charset="0"/>
                <a:ea typeface="Inter" pitchFamily="34" charset="-122"/>
                <a:cs typeface="Inter" pitchFamily="34" charset="-120"/>
              </a:rPr>
              <a:t>Dashboard displays real-time tier distribution with filter functionality</a:t>
            </a:r>
            <a:endParaRPr lang="en-US" sz="942" dirty="0"/>
          </a:p>
        </p:txBody>
      </p:sp>
      <p:pic>
        <p:nvPicPr>
          <p:cNvPr id="54" name="Image 7" descr="preencoded.png">    </p:cNvPr>
          <p:cNvPicPr>
            <a:picLocks noChangeAspect="1"/>
          </p:cNvPicPr>
          <p:nvPr/>
        </p:nvPicPr>
        <p:blipFill>
          <a:blip r:embed="rId8"/>
          <a:stretch>
            <a:fillRect/>
          </a:stretch>
        </p:blipFill>
        <p:spPr>
          <a:xfrm>
            <a:off x="2343150" y="4793456"/>
            <a:ext cx="142875" cy="142875"/>
          </a:xfrm>
          <a:prstGeom prst="rect">
            <a:avLst/>
          </a:prstGeom>
        </p:spPr>
      </p:pic>
      <p:sp>
        <p:nvSpPr>
          <p:cNvPr id="55" name="Text 45"/>
          <p:cNvSpPr/>
          <p:nvPr/>
        </p:nvSpPr>
        <p:spPr>
          <a:xfrm>
            <a:off x="2571750" y="4779169"/>
            <a:ext cx="4523780" cy="192881"/>
          </a:xfrm>
          <a:prstGeom prst="rect">
            <a:avLst/>
          </a:prstGeom>
          <a:noFill/>
          <a:ln/>
        </p:spPr>
        <p:txBody>
          <a:bodyPr wrap="none" lIns="0" tIns="0" rIns="0" bIns="0" rtlCol="0" anchor="t">
            <a:spAutoFit/>
          </a:bodyPr>
          <a:lstStyle/>
          <a:p>
            <a:pPr algn="l" indent="0" marL="0">
              <a:lnSpc>
                <a:spcPts val="1500"/>
              </a:lnSpc>
              <a:buNone/>
            </a:pPr>
            <a:r>
              <a:rPr lang="en-US" sz="942" dirty="0">
                <a:solidFill>
                  <a:srgbClr val="FAFAFA"/>
                </a:solidFill>
                <a:latin typeface="Inter" pitchFamily="34" charset="0"/>
                <a:ea typeface="Inter" pitchFamily="34" charset="-122"/>
                <a:cs typeface="Inter" pitchFamily="34" charset="-120"/>
              </a:rPr>
              <a:t>AI Code Reviewer generates a compliance report with zero critical findings</a:t>
            </a:r>
            <a:endParaRPr lang="en-US" sz="942"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457200"/>
            <a:ext cx="5229225" cy="137517"/>
          </a:xfrm>
          <a:prstGeom prst="rect">
            <a:avLst/>
          </a:prstGeom>
          <a:noFill/>
          <a:ln/>
        </p:spPr>
        <p:txBody>
          <a:bodyPr wrap="none" lIns="0" tIns="0" rIns="0" bIns="0" rtlCol="0" anchor="t">
            <a:spAutoFit/>
          </a:bodyPr>
          <a:lstStyle/>
          <a:p>
            <a:pPr algn="l" indent="0" marL="0">
              <a:lnSpc>
                <a:spcPts val="1100"/>
              </a:lnSpc>
              <a:buNone/>
            </a:pPr>
            <a:r>
              <a:rPr lang="en-US" sz="784" b="1" spc="2" kern="0" dirty="0">
                <a:solidFill>
                  <a:srgbClr val="D94841"/>
                </a:solidFill>
                <a:latin typeface="Inter" pitchFamily="34" charset="0"/>
                <a:ea typeface="Inter" pitchFamily="34" charset="-122"/>
                <a:cs typeface="Inter" pitchFamily="34" charset="-120"/>
              </a:rPr>
              <a:t>CONCLUSION</a:t>
            </a:r>
            <a:endParaRPr lang="en-US" sz="784" dirty="0"/>
          </a:p>
        </p:txBody>
      </p:sp>
      <p:sp>
        <p:nvSpPr>
          <p:cNvPr id="4" name="Text 1"/>
          <p:cNvSpPr/>
          <p:nvPr/>
        </p:nvSpPr>
        <p:spPr>
          <a:xfrm>
            <a:off x="428625" y="680442"/>
            <a:ext cx="5229225" cy="45720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Summary &amp; Strategic Value</a:t>
            </a:r>
            <a:endParaRPr lang="en-US" sz="2436" dirty="0"/>
          </a:p>
        </p:txBody>
      </p:sp>
      <p:sp>
        <p:nvSpPr>
          <p:cNvPr id="5" name="Shape 2"/>
          <p:cNvSpPr/>
          <p:nvPr/>
        </p:nvSpPr>
        <p:spPr>
          <a:xfrm>
            <a:off x="428625" y="1366242"/>
            <a:ext cx="571500" cy="28575"/>
          </a:xfrm>
          <a:prstGeom prst="rect">
            <a:avLst/>
          </a:prstGeom>
          <a:solidFill>
            <a:srgbClr val="F2C94C"/>
          </a:solidFill>
          <a:ln/>
        </p:spPr>
      </p:sp>
      <p:sp>
        <p:nvSpPr>
          <p:cNvPr id="6" name="Text 3"/>
          <p:cNvSpPr/>
          <p:nvPr/>
        </p:nvSpPr>
        <p:spPr>
          <a:xfrm>
            <a:off x="428625" y="1423392"/>
            <a:ext cx="5229225" cy="4572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1A1A1A"/>
                </a:solidFill>
                <a:latin typeface="Inter" pitchFamily="34" charset="0"/>
                <a:ea typeface="Inter" pitchFamily="34" charset="-122"/>
                <a:cs typeface="Inter" pitchFamily="34" charset="-120"/>
              </a:rPr>
              <a:t>VitalTriage AI transforms a fragmented, error-prone manual process into a reliable, data-driven operational backbone for healthcare facilities.</a:t>
            </a:r>
            <a:endParaRPr lang="en-US" sz="1050" dirty="0"/>
          </a:p>
        </p:txBody>
      </p:sp>
      <p:sp>
        <p:nvSpPr>
          <p:cNvPr id="7" name="Text 4"/>
          <p:cNvSpPr/>
          <p:nvPr/>
        </p:nvSpPr>
        <p:spPr>
          <a:xfrm>
            <a:off x="428625" y="2023467"/>
            <a:ext cx="1307306" cy="341114"/>
          </a:xfrm>
          <a:prstGeom prst="rect">
            <a:avLst/>
          </a:prstGeom>
          <a:noFill/>
          <a:ln/>
        </p:spPr>
        <p:txBody>
          <a:bodyPr wrap="square" lIns="68072" tIns="85090" rIns="68072" bIns="85090" rtlCol="0" anchor="ctr">
            <a:spAutoFit/>
          </a:bodyPr>
          <a:lstStyle/>
          <a:p>
            <a:pPr algn="l" indent="0" marL="0">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Dimension</a:t>
            </a:r>
            <a:endParaRPr lang="en-US" sz="987" dirty="0"/>
          </a:p>
        </p:txBody>
      </p:sp>
      <p:sp>
        <p:nvSpPr>
          <p:cNvPr id="8" name="Text 5"/>
          <p:cNvSpPr/>
          <p:nvPr/>
        </p:nvSpPr>
        <p:spPr>
          <a:xfrm>
            <a:off x="1735931" y="2023467"/>
            <a:ext cx="1830223" cy="341114"/>
          </a:xfrm>
          <a:prstGeom prst="rect">
            <a:avLst/>
          </a:prstGeom>
          <a:noFill/>
          <a:ln/>
        </p:spPr>
        <p:txBody>
          <a:bodyPr wrap="square" lIns="68072" tIns="85090" rIns="68072" bIns="85090" rtlCol="0" anchor="ctr">
            <a:spAutoFit/>
          </a:bodyPr>
          <a:lstStyle/>
          <a:p>
            <a:pPr algn="l" indent="0" marL="0">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Before</a:t>
            </a:r>
            <a:endParaRPr lang="en-US" sz="987" dirty="0"/>
          </a:p>
        </p:txBody>
      </p:sp>
      <p:sp>
        <p:nvSpPr>
          <p:cNvPr id="9" name="Text 6"/>
          <p:cNvSpPr/>
          <p:nvPr/>
        </p:nvSpPr>
        <p:spPr>
          <a:xfrm>
            <a:off x="3566154" y="2023467"/>
            <a:ext cx="2091696" cy="341114"/>
          </a:xfrm>
          <a:prstGeom prst="rect">
            <a:avLst/>
          </a:prstGeom>
          <a:noFill/>
          <a:ln/>
        </p:spPr>
        <p:txBody>
          <a:bodyPr wrap="square" lIns="68072" tIns="85090" rIns="68072" bIns="85090" rtlCol="0" anchor="ctr">
            <a:spAutoFit/>
          </a:bodyPr>
          <a:lstStyle/>
          <a:p>
            <a:pPr algn="l" indent="0" marL="0">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After (VitalTriage AI)</a:t>
            </a:r>
            <a:endParaRPr lang="en-US" sz="987" dirty="0"/>
          </a:p>
        </p:txBody>
      </p:sp>
      <p:sp>
        <p:nvSpPr>
          <p:cNvPr id="10" name="Text 7"/>
          <p:cNvSpPr/>
          <p:nvPr/>
        </p:nvSpPr>
        <p:spPr>
          <a:xfrm>
            <a:off x="428625" y="2364581"/>
            <a:ext cx="1307306" cy="467916"/>
          </a:xfrm>
          <a:prstGeom prst="rect">
            <a:avLst/>
          </a:prstGeom>
          <a:noFill/>
          <a:ln/>
        </p:spPr>
        <p:txBody>
          <a:bodyPr wrap="square" lIns="68072" tIns="68072" rIns="68072" bIns="68072" rtlCol="0" anchor="ctr">
            <a:spAutoFit/>
          </a:bodyPr>
          <a:lstStyle/>
          <a:p>
            <a:pPr algn="l" indent="0" marL="0">
              <a:lnSpc>
                <a:spcPts val="1400"/>
              </a:lnSpc>
              <a:buNone/>
            </a:pPr>
            <a:r>
              <a:rPr lang="en-US" sz="784" b="1" dirty="0">
                <a:solidFill>
                  <a:srgbClr val="1A1A1A"/>
                </a:solidFill>
                <a:latin typeface="Inter" pitchFamily="34" charset="0"/>
                <a:ea typeface="Inter" pitchFamily="34" charset="-122"/>
                <a:cs typeface="Inter" pitchFamily="34" charset="-120"/>
              </a:rPr>
              <a:t>Triage Method</a:t>
            </a:r>
            <a:endParaRPr lang="en-US" sz="784" dirty="0"/>
          </a:p>
        </p:txBody>
      </p:sp>
      <p:sp>
        <p:nvSpPr>
          <p:cNvPr id="11" name="Text 8"/>
          <p:cNvSpPr/>
          <p:nvPr/>
        </p:nvSpPr>
        <p:spPr>
          <a:xfrm>
            <a:off x="1735931" y="2364581"/>
            <a:ext cx="1830223" cy="467916"/>
          </a:xfrm>
          <a:prstGeom prst="rect">
            <a:avLst/>
          </a:prstGeom>
          <a:noFill/>
          <a:ln/>
        </p:spPr>
        <p:txBody>
          <a:bodyPr wrap="square" lIns="68072" tIns="68072" rIns="68072" bIns="68072" rtlCol="0" anchor="ctr">
            <a:spAutoFit/>
          </a:bodyPr>
          <a:lstStyle/>
          <a:p>
            <a:pPr algn="l" indent="0" marL="0">
              <a:lnSpc>
                <a:spcPts val="1400"/>
              </a:lnSpc>
              <a:buNone/>
            </a:pPr>
            <a:r>
              <a:rPr lang="en-US" sz="834" dirty="0">
                <a:solidFill>
                  <a:srgbClr val="888888"/>
                </a:solidFill>
                <a:latin typeface="Inter" pitchFamily="34" charset="0"/>
                <a:ea typeface="Inter" pitchFamily="34" charset="-122"/>
                <a:cs typeface="Inter" pitchFamily="34" charset="-120"/>
              </a:rPr>
              <a:t>Manual, subjective, shift-dependent</a:t>
            </a:r>
            <a:endParaRPr lang="en-US" sz="834" dirty="0"/>
          </a:p>
        </p:txBody>
      </p:sp>
      <p:sp>
        <p:nvSpPr>
          <p:cNvPr id="12" name="Text 9"/>
          <p:cNvSpPr/>
          <p:nvPr/>
        </p:nvSpPr>
        <p:spPr>
          <a:xfrm>
            <a:off x="3566154" y="2364581"/>
            <a:ext cx="2091696" cy="467916"/>
          </a:xfrm>
          <a:prstGeom prst="rect">
            <a:avLst/>
          </a:prstGeom>
          <a:noFill/>
          <a:ln/>
        </p:spPr>
        <p:txBody>
          <a:bodyPr wrap="square" lIns="68072" tIns="68072" rIns="68072" bIns="68072" rtlCol="0" anchor="ctr">
            <a:spAutoFit/>
          </a:bodyPr>
          <a:lstStyle/>
          <a:p>
            <a:pPr algn="l" indent="0" marL="0">
              <a:lnSpc>
                <a:spcPts val="1400"/>
              </a:lnSpc>
              <a:buNone/>
            </a:pPr>
            <a:r>
              <a:rPr lang="en-US" sz="784" b="1" dirty="0">
                <a:solidFill>
                  <a:srgbClr val="D94841"/>
                </a:solidFill>
                <a:latin typeface="Inter" pitchFamily="34" charset="0"/>
                <a:ea typeface="Inter" pitchFamily="34" charset="-122"/>
                <a:cs typeface="Inter" pitchFamily="34" charset="-120"/>
              </a:rPr>
              <a:t>Automated, rule-based, consistent</a:t>
            </a:r>
            <a:endParaRPr lang="en-US" sz="784" dirty="0"/>
          </a:p>
        </p:txBody>
      </p:sp>
      <p:sp>
        <p:nvSpPr>
          <p:cNvPr id="13" name="Text 10"/>
          <p:cNvSpPr/>
          <p:nvPr/>
        </p:nvSpPr>
        <p:spPr>
          <a:xfrm>
            <a:off x="428625" y="2832497"/>
            <a:ext cx="1307306" cy="464344"/>
          </a:xfrm>
          <a:prstGeom prst="rect">
            <a:avLst/>
          </a:prstGeom>
          <a:noFill/>
          <a:ln/>
        </p:spPr>
        <p:txBody>
          <a:bodyPr wrap="square" lIns="68072" tIns="68072" rIns="68072" bIns="68072" rtlCol="0" anchor="ctr">
            <a:spAutoFit/>
          </a:bodyPr>
          <a:lstStyle/>
          <a:p>
            <a:pPr algn="l" indent="0" marL="0">
              <a:lnSpc>
                <a:spcPts val="1400"/>
              </a:lnSpc>
              <a:buNone/>
            </a:pPr>
            <a:r>
              <a:rPr lang="en-US" sz="784" b="1" dirty="0">
                <a:solidFill>
                  <a:srgbClr val="1A1A1A"/>
                </a:solidFill>
                <a:latin typeface="Inter" pitchFamily="34" charset="0"/>
                <a:ea typeface="Inter" pitchFamily="34" charset="-122"/>
                <a:cs typeface="Inter" pitchFamily="34" charset="-120"/>
              </a:rPr>
              <a:t>Visibility</a:t>
            </a:r>
            <a:endParaRPr lang="en-US" sz="784" dirty="0"/>
          </a:p>
        </p:txBody>
      </p:sp>
      <p:sp>
        <p:nvSpPr>
          <p:cNvPr id="14" name="Text 11"/>
          <p:cNvSpPr/>
          <p:nvPr/>
        </p:nvSpPr>
        <p:spPr>
          <a:xfrm>
            <a:off x="1735931" y="2832497"/>
            <a:ext cx="1830223" cy="464344"/>
          </a:xfrm>
          <a:prstGeom prst="rect">
            <a:avLst/>
          </a:prstGeom>
          <a:noFill/>
          <a:ln/>
        </p:spPr>
        <p:txBody>
          <a:bodyPr wrap="square" lIns="68072" tIns="68072" rIns="68072" bIns="68072" rtlCol="0" anchor="ctr">
            <a:spAutoFit/>
          </a:bodyPr>
          <a:lstStyle/>
          <a:p>
            <a:pPr algn="l" indent="0" marL="0">
              <a:lnSpc>
                <a:spcPts val="1400"/>
              </a:lnSpc>
              <a:buNone/>
            </a:pPr>
            <a:r>
              <a:rPr lang="en-US" sz="834" dirty="0">
                <a:solidFill>
                  <a:srgbClr val="888888"/>
                </a:solidFill>
                <a:latin typeface="Inter" pitchFamily="34" charset="0"/>
                <a:ea typeface="Inter" pitchFamily="34" charset="-122"/>
                <a:cs typeface="Inter" pitchFamily="34" charset="-120"/>
              </a:rPr>
              <a:t>Fragmented data across departments</a:t>
            </a:r>
            <a:endParaRPr lang="en-US" sz="834" dirty="0"/>
          </a:p>
        </p:txBody>
      </p:sp>
      <p:sp>
        <p:nvSpPr>
          <p:cNvPr id="15" name="Text 12"/>
          <p:cNvSpPr/>
          <p:nvPr/>
        </p:nvSpPr>
        <p:spPr>
          <a:xfrm>
            <a:off x="3566154" y="2832497"/>
            <a:ext cx="2091696" cy="464344"/>
          </a:xfrm>
          <a:prstGeom prst="rect">
            <a:avLst/>
          </a:prstGeom>
          <a:noFill/>
          <a:ln/>
        </p:spPr>
        <p:txBody>
          <a:bodyPr wrap="square" lIns="68072" tIns="68072" rIns="68072" bIns="68072" rtlCol="0" anchor="ctr">
            <a:spAutoFit/>
          </a:bodyPr>
          <a:lstStyle/>
          <a:p>
            <a:pPr algn="l" indent="0" marL="0">
              <a:lnSpc>
                <a:spcPts val="1400"/>
              </a:lnSpc>
              <a:buNone/>
            </a:pPr>
            <a:r>
              <a:rPr lang="en-US" sz="784" b="1" dirty="0">
                <a:solidFill>
                  <a:srgbClr val="D94841"/>
                </a:solidFill>
                <a:latin typeface="Inter" pitchFamily="34" charset="0"/>
                <a:ea typeface="Inter" pitchFamily="34" charset="-122"/>
                <a:cs typeface="Inter" pitchFamily="34" charset="-120"/>
              </a:rPr>
              <a:t>Unified real-time managerial dashboard</a:t>
            </a:r>
            <a:endParaRPr lang="en-US" sz="784" dirty="0"/>
          </a:p>
        </p:txBody>
      </p:sp>
      <p:sp>
        <p:nvSpPr>
          <p:cNvPr id="16" name="Text 13"/>
          <p:cNvSpPr/>
          <p:nvPr/>
        </p:nvSpPr>
        <p:spPr>
          <a:xfrm>
            <a:off x="428625" y="3296841"/>
            <a:ext cx="1307306" cy="292894"/>
          </a:xfrm>
          <a:prstGeom prst="rect">
            <a:avLst/>
          </a:prstGeom>
          <a:noFill/>
          <a:ln/>
        </p:spPr>
        <p:txBody>
          <a:bodyPr wrap="square" lIns="68072" tIns="68072" rIns="68072" bIns="68072" rtlCol="0" anchor="ctr">
            <a:spAutoFit/>
          </a:bodyPr>
          <a:lstStyle/>
          <a:p>
            <a:pPr algn="l" indent="0" marL="0">
              <a:lnSpc>
                <a:spcPts val="1400"/>
              </a:lnSpc>
              <a:buNone/>
            </a:pPr>
            <a:r>
              <a:rPr lang="en-US" sz="784" b="1" dirty="0">
                <a:solidFill>
                  <a:srgbClr val="1A1A1A"/>
                </a:solidFill>
                <a:latin typeface="Inter" pitchFamily="34" charset="0"/>
                <a:ea typeface="Inter" pitchFamily="34" charset="-122"/>
                <a:cs typeface="Inter" pitchFamily="34" charset="-120"/>
              </a:rPr>
              <a:t>Compliance</a:t>
            </a:r>
            <a:endParaRPr lang="en-US" sz="784" dirty="0"/>
          </a:p>
        </p:txBody>
      </p:sp>
      <p:sp>
        <p:nvSpPr>
          <p:cNvPr id="17" name="Text 14"/>
          <p:cNvSpPr/>
          <p:nvPr/>
        </p:nvSpPr>
        <p:spPr>
          <a:xfrm>
            <a:off x="1735931" y="3296841"/>
            <a:ext cx="1830223" cy="292894"/>
          </a:xfrm>
          <a:prstGeom prst="rect">
            <a:avLst/>
          </a:prstGeom>
          <a:noFill/>
          <a:ln/>
        </p:spPr>
        <p:txBody>
          <a:bodyPr wrap="square" lIns="68072" tIns="68072" rIns="68072" bIns="68072" rtlCol="0" anchor="ctr">
            <a:spAutoFit/>
          </a:bodyPr>
          <a:lstStyle/>
          <a:p>
            <a:pPr algn="l" indent="0" marL="0">
              <a:lnSpc>
                <a:spcPts val="1400"/>
              </a:lnSpc>
              <a:buNone/>
            </a:pPr>
            <a:r>
              <a:rPr lang="en-US" sz="834" dirty="0">
                <a:solidFill>
                  <a:srgbClr val="888888"/>
                </a:solidFill>
                <a:latin typeface="Inter" pitchFamily="34" charset="0"/>
                <a:ea typeface="Inter" pitchFamily="34" charset="-122"/>
                <a:cs typeface="Inter" pitchFamily="34" charset="-120"/>
              </a:rPr>
              <a:t>Manual records, audit risk</a:t>
            </a:r>
            <a:endParaRPr lang="en-US" sz="834" dirty="0"/>
          </a:p>
        </p:txBody>
      </p:sp>
      <p:sp>
        <p:nvSpPr>
          <p:cNvPr id="18" name="Text 15"/>
          <p:cNvSpPr/>
          <p:nvPr/>
        </p:nvSpPr>
        <p:spPr>
          <a:xfrm>
            <a:off x="3566154" y="3296841"/>
            <a:ext cx="2091696" cy="292894"/>
          </a:xfrm>
          <a:prstGeom prst="rect">
            <a:avLst/>
          </a:prstGeom>
          <a:noFill/>
          <a:ln/>
        </p:spPr>
        <p:txBody>
          <a:bodyPr wrap="square" lIns="68072" tIns="68072" rIns="68072" bIns="68072" rtlCol="0" anchor="ctr">
            <a:spAutoFit/>
          </a:bodyPr>
          <a:lstStyle/>
          <a:p>
            <a:pPr algn="l" indent="0" marL="0">
              <a:lnSpc>
                <a:spcPts val="1400"/>
              </a:lnSpc>
              <a:buNone/>
            </a:pPr>
            <a:r>
              <a:rPr lang="en-US" sz="784" b="1" dirty="0">
                <a:solidFill>
                  <a:srgbClr val="D94841"/>
                </a:solidFill>
                <a:latin typeface="Inter" pitchFamily="34" charset="0"/>
                <a:ea typeface="Inter" pitchFamily="34" charset="-122"/>
                <a:cs typeface="Inter" pitchFamily="34" charset="-120"/>
              </a:rPr>
              <a:t>Full automated audit trail</a:t>
            </a:r>
            <a:endParaRPr lang="en-US" sz="784" dirty="0"/>
          </a:p>
        </p:txBody>
      </p:sp>
      <p:sp>
        <p:nvSpPr>
          <p:cNvPr id="19" name="Text 16"/>
          <p:cNvSpPr/>
          <p:nvPr/>
        </p:nvSpPr>
        <p:spPr>
          <a:xfrm>
            <a:off x="428625" y="3589734"/>
            <a:ext cx="1307306" cy="464344"/>
          </a:xfrm>
          <a:prstGeom prst="rect">
            <a:avLst/>
          </a:prstGeom>
          <a:noFill/>
          <a:ln/>
        </p:spPr>
        <p:txBody>
          <a:bodyPr wrap="square" lIns="68072" tIns="68072" rIns="68072" bIns="68072" rtlCol="0" anchor="ctr">
            <a:spAutoFit/>
          </a:bodyPr>
          <a:lstStyle/>
          <a:p>
            <a:pPr algn="l" indent="0" marL="0">
              <a:lnSpc>
                <a:spcPts val="1400"/>
              </a:lnSpc>
              <a:buNone/>
            </a:pPr>
            <a:r>
              <a:rPr lang="en-US" sz="784" b="1" dirty="0">
                <a:solidFill>
                  <a:srgbClr val="1A1A1A"/>
                </a:solidFill>
                <a:latin typeface="Inter" pitchFamily="34" charset="0"/>
                <a:ea typeface="Inter" pitchFamily="34" charset="-122"/>
                <a:cs typeface="Inter" pitchFamily="34" charset="-120"/>
              </a:rPr>
              <a:t>Clinician Time</a:t>
            </a:r>
            <a:endParaRPr lang="en-US" sz="784" dirty="0"/>
          </a:p>
        </p:txBody>
      </p:sp>
      <p:sp>
        <p:nvSpPr>
          <p:cNvPr id="20" name="Text 17"/>
          <p:cNvSpPr/>
          <p:nvPr/>
        </p:nvSpPr>
        <p:spPr>
          <a:xfrm>
            <a:off x="1735931" y="3589734"/>
            <a:ext cx="1830223" cy="464344"/>
          </a:xfrm>
          <a:prstGeom prst="rect">
            <a:avLst/>
          </a:prstGeom>
          <a:noFill/>
          <a:ln/>
        </p:spPr>
        <p:txBody>
          <a:bodyPr wrap="square" lIns="68072" tIns="68072" rIns="68072" bIns="68072" rtlCol="0" anchor="ctr">
            <a:spAutoFit/>
          </a:bodyPr>
          <a:lstStyle/>
          <a:p>
            <a:pPr algn="l" indent="0" marL="0">
              <a:lnSpc>
                <a:spcPts val="1400"/>
              </a:lnSpc>
              <a:buNone/>
            </a:pPr>
            <a:r>
              <a:rPr lang="en-US" sz="834" dirty="0">
                <a:solidFill>
                  <a:srgbClr val="888888"/>
                </a:solidFill>
                <a:latin typeface="Inter" pitchFamily="34" charset="0"/>
                <a:ea typeface="Inter" pitchFamily="34" charset="-122"/>
                <a:cs typeface="Inter" pitchFamily="34" charset="-120"/>
              </a:rPr>
              <a:t>Spent on administrative categorization</a:t>
            </a:r>
            <a:endParaRPr lang="en-US" sz="834" dirty="0"/>
          </a:p>
        </p:txBody>
      </p:sp>
      <p:sp>
        <p:nvSpPr>
          <p:cNvPr id="21" name="Text 18"/>
          <p:cNvSpPr/>
          <p:nvPr/>
        </p:nvSpPr>
        <p:spPr>
          <a:xfrm>
            <a:off x="3566154" y="3589734"/>
            <a:ext cx="2091696" cy="464344"/>
          </a:xfrm>
          <a:prstGeom prst="rect">
            <a:avLst/>
          </a:prstGeom>
          <a:noFill/>
          <a:ln/>
        </p:spPr>
        <p:txBody>
          <a:bodyPr wrap="square" lIns="68072" tIns="68072" rIns="68072" bIns="68072" rtlCol="0" anchor="ctr">
            <a:spAutoFit/>
          </a:bodyPr>
          <a:lstStyle/>
          <a:p>
            <a:pPr algn="l" indent="0" marL="0">
              <a:lnSpc>
                <a:spcPts val="1400"/>
              </a:lnSpc>
              <a:buNone/>
            </a:pPr>
            <a:r>
              <a:rPr lang="en-US" sz="784" b="1" dirty="0">
                <a:solidFill>
                  <a:srgbClr val="D94841"/>
                </a:solidFill>
                <a:latin typeface="Inter" pitchFamily="34" charset="0"/>
                <a:ea typeface="Inter" pitchFamily="34" charset="-122"/>
                <a:cs typeface="Inter" pitchFamily="34" charset="-120"/>
              </a:rPr>
              <a:t>Redirected to direct patient care</a:t>
            </a:r>
            <a:endParaRPr lang="en-US" sz="784" dirty="0"/>
          </a:p>
        </p:txBody>
      </p:sp>
      <p:sp>
        <p:nvSpPr>
          <p:cNvPr id="22" name="Shape 19"/>
          <p:cNvSpPr/>
          <p:nvPr/>
        </p:nvSpPr>
        <p:spPr>
          <a:xfrm>
            <a:off x="428625" y="4114800"/>
            <a:ext cx="5229225" cy="887611"/>
          </a:xfrm>
          <a:prstGeom prst="rect">
            <a:avLst/>
          </a:prstGeom>
          <a:solidFill>
            <a:srgbClr val="F2C94C">
              <a:alpha val="10000"/>
            </a:srgbClr>
          </a:solidFill>
          <a:ln/>
        </p:spPr>
      </p:sp>
      <p:sp>
        <p:nvSpPr>
          <p:cNvPr id="23" name="Shape 20"/>
          <p:cNvSpPr/>
          <p:nvPr/>
        </p:nvSpPr>
        <p:spPr>
          <a:xfrm>
            <a:off x="428625" y="4114800"/>
            <a:ext cx="28575" cy="887611"/>
          </a:xfrm>
          <a:prstGeom prst="rect">
            <a:avLst/>
          </a:prstGeom>
          <a:solidFill>
            <a:srgbClr val="F2C94C"/>
          </a:solidFill>
          <a:ln/>
        </p:spPr>
      </p:sp>
      <p:sp>
        <p:nvSpPr>
          <p:cNvPr id="24" name="Text 21"/>
          <p:cNvSpPr/>
          <p:nvPr/>
        </p:nvSpPr>
        <p:spPr>
          <a:xfrm>
            <a:off x="485775" y="4171950"/>
            <a:ext cx="5114925" cy="13751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1A1A1A"/>
                </a:solidFill>
                <a:latin typeface="Inter" pitchFamily="34" charset="0"/>
                <a:ea typeface="Inter" pitchFamily="34" charset="-122"/>
                <a:cs typeface="Inter" pitchFamily="34" charset="-120"/>
              </a:rPr>
              <a:t>THE STRATEGIC OUTCOME</a:t>
            </a:r>
            <a:endParaRPr lang="en-US" sz="784" dirty="0"/>
          </a:p>
        </p:txBody>
      </p:sp>
      <p:sp>
        <p:nvSpPr>
          <p:cNvPr id="25" name="Text 22"/>
          <p:cNvSpPr/>
          <p:nvPr/>
        </p:nvSpPr>
        <p:spPr>
          <a:xfrm>
            <a:off x="485775" y="4366617"/>
            <a:ext cx="5114925" cy="578644"/>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1A1A1A"/>
                </a:solidFill>
                <a:latin typeface="Inter" pitchFamily="34" charset="0"/>
                <a:ea typeface="Inter" pitchFamily="34" charset="-122"/>
                <a:cs typeface="Inter" pitchFamily="34" charset="-120"/>
              </a:rPr>
              <a:t>By deploying VitalTriage AI, healthcare operations managers gain the tools to ensure that every critical patient receives timely attention, every resource is allocated with precision, and every decision is backed by traceable, auditable data.</a:t>
            </a:r>
            <a:endParaRPr lang="en-US" sz="942" dirty="0"/>
          </a:p>
        </p:txBody>
      </p:sp>
      <p:sp>
        <p:nvSpPr>
          <p:cNvPr id="26" name="Shape 23"/>
          <p:cNvSpPr/>
          <p:nvPr/>
        </p:nvSpPr>
        <p:spPr>
          <a:xfrm>
            <a:off x="5943600" y="0"/>
            <a:ext cx="3200400" cy="5143500"/>
          </a:xfrm>
          <a:prstGeom prst="rect">
            <a:avLst/>
          </a:prstGeom>
          <a:solidFill>
            <a:srgbClr val="1A1A1A">
              <a:alpha val="80000"/>
            </a:srgbClr>
          </a:solidFill>
          <a:ln/>
        </p:spPr>
      </p:sp>
      <p:sp>
        <p:nvSpPr>
          <p:cNvPr id="27" name="Text 24"/>
          <p:cNvSpPr/>
          <p:nvPr/>
        </p:nvSpPr>
        <p:spPr>
          <a:xfrm>
            <a:off x="6157913" y="1971173"/>
            <a:ext cx="2771775" cy="960053"/>
          </a:xfrm>
          <a:prstGeom prst="rect">
            <a:avLst/>
          </a:prstGeom>
          <a:noFill/>
          <a:ln/>
        </p:spPr>
        <p:txBody>
          <a:bodyPr wrap="square" lIns="0" tIns="0" rIns="0" bIns="0" rtlCol="0" anchor="t">
            <a:spAutoFit/>
          </a:bodyPr>
          <a:lstStyle/>
          <a:p>
            <a:pPr algn="ctr" indent="0" marL="0">
              <a:lnSpc>
                <a:spcPts val="2500"/>
              </a:lnSpc>
              <a:buNone/>
            </a:pPr>
            <a:r>
              <a:rPr lang="en-US" sz="1704" i="1" dirty="0">
                <a:solidFill>
                  <a:srgbClr val="FAFAFA"/>
                </a:solidFill>
                <a:latin typeface="Playfair Display" pitchFamily="34" charset="0"/>
                <a:ea typeface="Playfair Display" pitchFamily="34" charset="-122"/>
                <a:cs typeface="Playfair Display" pitchFamily="34" charset="-120"/>
              </a:rPr>
              <a:t>"Because in healthcare, the right decision at the right time saves lives."</a:t>
            </a:r>
            <a:endParaRPr lang="en-US" sz="1704" dirty="0"/>
          </a:p>
        </p:txBody>
      </p:sp>
      <p:sp>
        <p:nvSpPr>
          <p:cNvPr id="28" name="Text 25"/>
          <p:cNvSpPr/>
          <p:nvPr/>
        </p:nvSpPr>
        <p:spPr>
          <a:xfrm>
            <a:off x="6157913" y="3016951"/>
            <a:ext cx="2771775" cy="155377"/>
          </a:xfrm>
          <a:prstGeom prst="rect">
            <a:avLst/>
          </a:prstGeom>
          <a:noFill/>
          <a:ln/>
        </p:spPr>
        <p:txBody>
          <a:bodyPr wrap="none" lIns="0" tIns="0" rIns="0" bIns="0" rtlCol="0" anchor="t">
            <a:spAutoFit/>
          </a:bodyPr>
          <a:lstStyle/>
          <a:p>
            <a:pPr algn="ctr" indent="0" marL="0">
              <a:lnSpc>
                <a:spcPts val="1200"/>
              </a:lnSpc>
              <a:buNone/>
            </a:pPr>
            <a:r>
              <a:rPr lang="en-US" sz="885" b="1" spc="2" kern="0" dirty="0">
                <a:solidFill>
                  <a:srgbClr val="F2C94C"/>
                </a:solidFill>
                <a:latin typeface="Inter" pitchFamily="34" charset="0"/>
                <a:ea typeface="Inter" pitchFamily="34" charset="-122"/>
                <a:cs typeface="Inter" pitchFamily="34" charset="-120"/>
              </a:rPr>
              <a:t>VITALTRIAGE AI</a:t>
            </a:r>
            <a:endParaRPr lang="en-US" sz="88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2026-03-20T06:41:56Z</dcterms:created>
  <dcterms:modified xsi:type="dcterms:W3CDTF">2026-03-20T06:41:56Z</dcterms:modified>
</cp:coreProperties>
</file>